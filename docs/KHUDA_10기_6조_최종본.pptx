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retendard Semi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" name="Shape 10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Pretendard SemiBold"/>
      </a:defRPr>
    </a:lvl1pPr>
    <a:lvl2pPr indent="228600" latinLnBrk="0">
      <a:defRPr sz="1200">
        <a:latin typeface="+mj-lt"/>
        <a:ea typeface="+mj-ea"/>
        <a:cs typeface="+mj-cs"/>
        <a:sym typeface="Pretendard SemiBold"/>
      </a:defRPr>
    </a:lvl2pPr>
    <a:lvl3pPr indent="457200" latinLnBrk="0">
      <a:defRPr sz="1200">
        <a:latin typeface="+mj-lt"/>
        <a:ea typeface="+mj-ea"/>
        <a:cs typeface="+mj-cs"/>
        <a:sym typeface="Pretendard SemiBold"/>
      </a:defRPr>
    </a:lvl3pPr>
    <a:lvl4pPr indent="685800" latinLnBrk="0">
      <a:defRPr sz="1200">
        <a:latin typeface="+mj-lt"/>
        <a:ea typeface="+mj-ea"/>
        <a:cs typeface="+mj-cs"/>
        <a:sym typeface="Pretendard SemiBold"/>
      </a:defRPr>
    </a:lvl4pPr>
    <a:lvl5pPr indent="914400" latinLnBrk="0">
      <a:defRPr sz="1200">
        <a:latin typeface="+mj-lt"/>
        <a:ea typeface="+mj-ea"/>
        <a:cs typeface="+mj-cs"/>
        <a:sym typeface="Pretendard SemiBold"/>
      </a:defRPr>
    </a:lvl5pPr>
    <a:lvl6pPr indent="1143000" latinLnBrk="0">
      <a:defRPr sz="1200">
        <a:latin typeface="+mj-lt"/>
        <a:ea typeface="+mj-ea"/>
        <a:cs typeface="+mj-cs"/>
        <a:sym typeface="Pretendard SemiBold"/>
      </a:defRPr>
    </a:lvl6pPr>
    <a:lvl7pPr indent="1371600" latinLnBrk="0">
      <a:defRPr sz="1200">
        <a:latin typeface="+mj-lt"/>
        <a:ea typeface="+mj-ea"/>
        <a:cs typeface="+mj-cs"/>
        <a:sym typeface="Pretendard SemiBold"/>
      </a:defRPr>
    </a:lvl7pPr>
    <a:lvl8pPr indent="1600200" latinLnBrk="0">
      <a:defRPr sz="1200">
        <a:latin typeface="+mj-lt"/>
        <a:ea typeface="+mj-ea"/>
        <a:cs typeface="+mj-cs"/>
        <a:sym typeface="Pretendard SemiBold"/>
      </a:defRPr>
    </a:lvl8pPr>
    <a:lvl9pPr indent="1828800" latinLnBrk="0">
      <a:defRPr sz="1200">
        <a:latin typeface="+mj-lt"/>
        <a:ea typeface="+mj-ea"/>
        <a:cs typeface="+mj-cs"/>
        <a:sym typeface="Pretendard SemiBold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524000" y="3602037"/>
            <a:ext cx="9144000" cy="1655766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831850" y="4589462"/>
            <a:ext cx="10515600" cy="150019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839787" y="1681163"/>
            <a:ext cx="5157790" cy="823916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텍스트 개체 틀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icture Placeholder 28"/>
          <p:cNvSpPr/>
          <p:nvPr>
            <p:ph type="pic" sz="quarter" idx="21"/>
          </p:nvPr>
        </p:nvSpPr>
        <p:spPr>
          <a:xfrm>
            <a:off x="1535766" y="1534158"/>
            <a:ext cx="2045638" cy="4424956"/>
          </a:xfrm>
          <a:prstGeom prst="rect">
            <a:avLst/>
          </a:prstGeom>
          <a:ln w="6350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7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제목 텍스트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제목 텍스트</a:t>
            </a:r>
          </a:p>
        </p:txBody>
      </p:sp>
      <p:sp>
        <p:nvSpPr>
          <p:cNvPr id="81" name="본문 첫 번째 줄…"/>
          <p:cNvSpPr txBox="1"/>
          <p:nvPr>
            <p:ph type="body" sz="half" idx="1"/>
          </p:nvPr>
        </p:nvSpPr>
        <p:spPr>
          <a:xfrm>
            <a:off x="5183187" y="987425"/>
            <a:ext cx="6172204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2" name="텍스트 개체 틀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텍스트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제목 텍스트</a:t>
            </a:r>
          </a:p>
        </p:txBody>
      </p:sp>
      <p:sp>
        <p:nvSpPr>
          <p:cNvPr id="91" name="그림 개체 틀 2"/>
          <p:cNvSpPr/>
          <p:nvPr>
            <p:ph type="pic" sz="half" idx="21"/>
          </p:nvPr>
        </p:nvSpPr>
        <p:spPr>
          <a:xfrm>
            <a:off x="5183187" y="987425"/>
            <a:ext cx="6172204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2" name="본문 첫 번째 줄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11080150" y="6404294"/>
            <a:ext cx="273652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retendard Black"/>
          <a:ea typeface="Pretendard Black"/>
          <a:cs typeface="Pretendard Black"/>
          <a:sym typeface="Pretendar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Pretendard SemiBold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retendard SemiBol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hyperlink" Target="https://recommendapppy-8tybprrabpecm4hfq3xmlb.streamlit.app/" TargetMode="Externa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11"/>
          <p:cNvSpPr/>
          <p:nvPr/>
        </p:nvSpPr>
        <p:spPr>
          <a:xfrm>
            <a:off x="99388" y="0"/>
            <a:ext cx="12192007" cy="6858000"/>
          </a:xfrm>
          <a:prstGeom prst="rect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자유형: 도형 4"/>
          <p:cNvSpPr/>
          <p:nvPr/>
        </p:nvSpPr>
        <p:spPr>
          <a:xfrm rot="18845303">
            <a:off x="-1234941" y="-1041779"/>
            <a:ext cx="8620370" cy="975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343" y="0"/>
                </a:moveTo>
                <a:lnTo>
                  <a:pt x="21600" y="8444"/>
                </a:lnTo>
                <a:lnTo>
                  <a:pt x="21600" y="16218"/>
                </a:lnTo>
                <a:cubicBezTo>
                  <a:pt x="21600" y="19190"/>
                  <a:pt x="18873" y="21600"/>
                  <a:pt x="15509" y="21600"/>
                </a:cubicBezTo>
                <a:lnTo>
                  <a:pt x="12098" y="21600"/>
                </a:lnTo>
                <a:lnTo>
                  <a:pt x="0" y="10565"/>
                </a:lnTo>
                <a:close/>
              </a:path>
            </a:pathLst>
          </a:custGeom>
          <a:gradFill>
            <a:gsLst>
              <a:gs pos="27000">
                <a:srgbClr val="131B6C"/>
              </a:gs>
              <a:gs pos="100000">
                <a:srgbClr val="126BF6"/>
              </a:gs>
            </a:gsLst>
            <a:lin ang="5400000"/>
          </a:gradFill>
          <a:ln w="12700">
            <a:miter lim="400000"/>
          </a:ln>
          <a:effectLst>
            <a:outerShdw sx="100000" sy="100000" kx="0" ky="0" algn="b" rotWithShape="0" blurRad="609600" dist="38100" dir="2700000">
              <a:srgbClr val="000000">
                <a:alpha val="4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6"/>
          <p:cNvSpPr txBox="1"/>
          <p:nvPr/>
        </p:nvSpPr>
        <p:spPr>
          <a:xfrm>
            <a:off x="864180" y="2371519"/>
            <a:ext cx="7734625" cy="1247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STEAM 사용자 맞춤형 VALUE SCORE 기반 게임 추천 시스템</a:t>
            </a:r>
          </a:p>
        </p:txBody>
      </p:sp>
      <p:sp>
        <p:nvSpPr>
          <p:cNvPr id="105" name="Rounded Rectangle"/>
          <p:cNvSpPr/>
          <p:nvPr/>
        </p:nvSpPr>
        <p:spPr>
          <a:xfrm>
            <a:off x="846761" y="3783172"/>
            <a:ext cx="5249503" cy="596461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6조 | 김시우, 김정엽, 박현빈, 윤재민, 이가윤, 이지민"/>
          <p:cNvSpPr txBox="1"/>
          <p:nvPr/>
        </p:nvSpPr>
        <p:spPr>
          <a:xfrm>
            <a:off x="1014950" y="3909478"/>
            <a:ext cx="4613671" cy="319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6조 | 김시우, 김정엽, 박현빈, 윤재민, 이가윤, 이지민</a:t>
            </a:r>
          </a:p>
        </p:txBody>
      </p:sp>
      <p:sp>
        <p:nvSpPr>
          <p:cNvPr id="107" name="자유형: 도형 12"/>
          <p:cNvSpPr/>
          <p:nvPr/>
        </p:nvSpPr>
        <p:spPr>
          <a:xfrm rot="19534808">
            <a:off x="9473334" y="2371922"/>
            <a:ext cx="4241194" cy="38188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34"/>
                </a:moveTo>
                <a:lnTo>
                  <a:pt x="8418" y="21600"/>
                </a:lnTo>
                <a:lnTo>
                  <a:pt x="7807" y="21496"/>
                </a:lnTo>
                <a:cubicBezTo>
                  <a:pt x="3351" y="20484"/>
                  <a:pt x="0" y="16106"/>
                  <a:pt x="0" y="10859"/>
                </a:cubicBezTo>
                <a:cubicBezTo>
                  <a:pt x="0" y="4862"/>
                  <a:pt x="4377" y="0"/>
                  <a:pt x="9777" y="0"/>
                </a:cubicBezTo>
                <a:lnTo>
                  <a:pt x="19582" y="0"/>
                </a:lnTo>
                <a:cubicBezTo>
                  <a:pt x="20256" y="0"/>
                  <a:pt x="20915" y="76"/>
                  <a:pt x="21552" y="221"/>
                </a:cubicBezTo>
                <a:close/>
              </a:path>
            </a:pathLst>
          </a:custGeom>
          <a:gradFill>
            <a:gsLst>
              <a:gs pos="27000">
                <a:srgbClr val="131B6C"/>
              </a:gs>
              <a:gs pos="100000">
                <a:srgbClr val="126BF6"/>
              </a:gs>
            </a:gsLst>
            <a:lin ang="10800000"/>
          </a:gradFill>
          <a:ln w="12700">
            <a:miter lim="400000"/>
          </a:ln>
          <a:effectLst>
            <a:outerShdw sx="100000" sy="100000" kx="0" ky="0" algn="b" rotWithShape="0" blurRad="266700" dist="38100" dir="2700000">
              <a:srgbClr val="000000">
                <a:alpha val="11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사각형: 둥근 모서리 14"/>
          <p:cNvSpPr/>
          <p:nvPr/>
        </p:nvSpPr>
        <p:spPr>
          <a:xfrm>
            <a:off x="9577751" y="531845"/>
            <a:ext cx="1184432" cy="1170388"/>
          </a:xfrm>
          <a:prstGeom prst="roundRect">
            <a:avLst>
              <a:gd name="adj" fmla="val 50000"/>
            </a:avLst>
          </a:prstGeom>
          <a:gradFill>
            <a:gsLst>
              <a:gs pos="25000">
                <a:srgbClr val="131B6C"/>
              </a:gs>
              <a:gs pos="100000">
                <a:srgbClr val="126BF6">
                  <a:alpha val="36000"/>
                </a:srgbClr>
              </a:gs>
            </a:gsLst>
            <a:lin ang="8100000"/>
          </a:gradFill>
          <a:ln w="12700">
            <a:miter lim="400000"/>
          </a:ln>
          <a:effectLst>
            <a:outerShdw sx="100000" sy="100000" kx="0" ky="0" algn="b" rotWithShape="0" blurRad="660400" dist="38100" dir="0">
              <a:srgbClr val="000000">
                <a:alpha val="13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09" name="그림 2" descr="그림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3163" y="1088575"/>
            <a:ext cx="3177066" cy="8379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직사각형 1"/>
          <p:cNvSpPr/>
          <p:nvPr/>
        </p:nvSpPr>
        <p:spPr>
          <a:xfrm>
            <a:off x="-1" y="0"/>
            <a:ext cx="2465410" cy="6858000"/>
          </a:xfrm>
          <a:prstGeom prst="rect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112" name="TextBox 2"/>
          <p:cNvSpPr txBox="1"/>
          <p:nvPr/>
        </p:nvSpPr>
        <p:spPr>
          <a:xfrm>
            <a:off x="6586049" y="1532838"/>
            <a:ext cx="497010" cy="523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>
                <a:solidFill>
                  <a:srgbClr val="126BF6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13" name="TextBox 22"/>
          <p:cNvSpPr txBox="1"/>
          <p:nvPr/>
        </p:nvSpPr>
        <p:spPr>
          <a:xfrm>
            <a:off x="7394843" y="1594392"/>
            <a:ext cx="2690539" cy="396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0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개요</a:t>
            </a:r>
          </a:p>
        </p:txBody>
      </p:sp>
      <p:sp>
        <p:nvSpPr>
          <p:cNvPr id="114" name="TextBox 26"/>
          <p:cNvSpPr txBox="1"/>
          <p:nvPr/>
        </p:nvSpPr>
        <p:spPr>
          <a:xfrm>
            <a:off x="7394843" y="1960770"/>
            <a:ext cx="3703618" cy="319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pPr/>
            <a:r>
              <a:t>주제 선정 이유 및 문제 의식</a:t>
            </a:r>
          </a:p>
        </p:txBody>
      </p:sp>
      <p:sp>
        <p:nvSpPr>
          <p:cNvPr id="115" name="TextBox 28"/>
          <p:cNvSpPr txBox="1"/>
          <p:nvPr/>
        </p:nvSpPr>
        <p:spPr>
          <a:xfrm>
            <a:off x="6586049" y="2570390"/>
            <a:ext cx="560286" cy="523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>
                <a:solidFill>
                  <a:srgbClr val="126BF6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16" name="TextBox 29"/>
          <p:cNvSpPr txBox="1"/>
          <p:nvPr/>
        </p:nvSpPr>
        <p:spPr>
          <a:xfrm>
            <a:off x="7394843" y="2631944"/>
            <a:ext cx="2690539" cy="414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0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처리</a:t>
            </a:r>
          </a:p>
        </p:txBody>
      </p:sp>
      <p:sp>
        <p:nvSpPr>
          <p:cNvPr id="117" name="TextBox 30"/>
          <p:cNvSpPr txBox="1"/>
          <p:nvPr/>
        </p:nvSpPr>
        <p:spPr>
          <a:xfrm>
            <a:off x="7394843" y="2998322"/>
            <a:ext cx="3703618" cy="319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pPr/>
            <a:r>
              <a:t>데이터 수집 및 전처리</a:t>
            </a:r>
          </a:p>
        </p:txBody>
      </p:sp>
      <p:sp>
        <p:nvSpPr>
          <p:cNvPr id="118" name="TextBox 31"/>
          <p:cNvSpPr txBox="1"/>
          <p:nvPr/>
        </p:nvSpPr>
        <p:spPr>
          <a:xfrm>
            <a:off x="6586049" y="3610917"/>
            <a:ext cx="560286" cy="523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>
                <a:solidFill>
                  <a:srgbClr val="126BF6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19" name="TextBox 32"/>
          <p:cNvSpPr txBox="1"/>
          <p:nvPr/>
        </p:nvSpPr>
        <p:spPr>
          <a:xfrm>
            <a:off x="7394843" y="3672473"/>
            <a:ext cx="2690539" cy="396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0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모델링</a:t>
            </a:r>
          </a:p>
        </p:txBody>
      </p:sp>
      <p:sp>
        <p:nvSpPr>
          <p:cNvPr id="120" name="TextBox 33"/>
          <p:cNvSpPr txBox="1"/>
          <p:nvPr/>
        </p:nvSpPr>
        <p:spPr>
          <a:xfrm>
            <a:off x="7394843" y="4038848"/>
            <a:ext cx="3703618" cy="319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pPr/>
            <a:r>
              <a:t>모델링 과정 및 평가 방법</a:t>
            </a:r>
          </a:p>
        </p:txBody>
      </p:sp>
      <p:sp>
        <p:nvSpPr>
          <p:cNvPr id="121" name="TextBox 34"/>
          <p:cNvSpPr txBox="1"/>
          <p:nvPr/>
        </p:nvSpPr>
        <p:spPr>
          <a:xfrm>
            <a:off x="6586049" y="4589888"/>
            <a:ext cx="560286" cy="523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>
                <a:solidFill>
                  <a:srgbClr val="126BF6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2" name="TextBox 35"/>
          <p:cNvSpPr txBox="1"/>
          <p:nvPr/>
        </p:nvSpPr>
        <p:spPr>
          <a:xfrm>
            <a:off x="7394843" y="4651445"/>
            <a:ext cx="2690539" cy="396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0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결론</a:t>
            </a:r>
          </a:p>
        </p:txBody>
      </p:sp>
      <p:sp>
        <p:nvSpPr>
          <p:cNvPr id="123" name="TextBox 36"/>
          <p:cNvSpPr txBox="1"/>
          <p:nvPr/>
        </p:nvSpPr>
        <p:spPr>
          <a:xfrm>
            <a:off x="7394843" y="5017820"/>
            <a:ext cx="3703618" cy="319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pPr/>
            <a:r>
              <a:t>모델링 결과 및 기대 효과</a:t>
            </a:r>
          </a:p>
        </p:txBody>
      </p:sp>
      <p:sp>
        <p:nvSpPr>
          <p:cNvPr id="124" name="자유형: 도형 6"/>
          <p:cNvSpPr/>
          <p:nvPr/>
        </p:nvSpPr>
        <p:spPr>
          <a:xfrm flipH="1" rot="2065192">
            <a:off x="-1172753" y="3010950"/>
            <a:ext cx="3483971" cy="31370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34"/>
                </a:moveTo>
                <a:lnTo>
                  <a:pt x="8418" y="21600"/>
                </a:lnTo>
                <a:lnTo>
                  <a:pt x="7807" y="21496"/>
                </a:lnTo>
                <a:cubicBezTo>
                  <a:pt x="3351" y="20484"/>
                  <a:pt x="0" y="16106"/>
                  <a:pt x="0" y="10859"/>
                </a:cubicBezTo>
                <a:cubicBezTo>
                  <a:pt x="0" y="4862"/>
                  <a:pt x="4377" y="0"/>
                  <a:pt x="9777" y="0"/>
                </a:cubicBezTo>
                <a:lnTo>
                  <a:pt x="19582" y="0"/>
                </a:lnTo>
                <a:cubicBezTo>
                  <a:pt x="20256" y="0"/>
                  <a:pt x="20915" y="76"/>
                  <a:pt x="21552" y="221"/>
                </a:cubicBezTo>
                <a:close/>
              </a:path>
            </a:pathLst>
          </a:custGeom>
          <a:gradFill>
            <a:gsLst>
              <a:gs pos="27000">
                <a:srgbClr val="131B6C"/>
              </a:gs>
              <a:gs pos="100000">
                <a:srgbClr val="126BF6"/>
              </a:gs>
            </a:gsLst>
            <a:lin ang="10800000"/>
          </a:gradFill>
          <a:ln w="12700">
            <a:miter lim="400000"/>
          </a:ln>
          <a:effectLst>
            <a:outerShdw sx="100000" sy="100000" kx="0" ky="0" algn="b" rotWithShape="0" blurRad="266700" dist="38100" dir="2700000">
              <a:srgbClr val="000000">
                <a:alpha val="11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직선 연결선 13"/>
          <p:cNvSpPr/>
          <p:nvPr/>
        </p:nvSpPr>
        <p:spPr>
          <a:xfrm>
            <a:off x="988192" y="3589087"/>
            <a:ext cx="361620" cy="400890"/>
          </a:xfrm>
          <a:prstGeom prst="line">
            <a:avLst/>
          </a:prstGeom>
          <a:ln w="635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" name="TextBox 15"/>
          <p:cNvSpPr txBox="1"/>
          <p:nvPr/>
        </p:nvSpPr>
        <p:spPr>
          <a:xfrm>
            <a:off x="1223513" y="3425754"/>
            <a:ext cx="2501178" cy="701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Cont</a:t>
            </a:r>
            <a:r>
              <a:rPr>
                <a:solidFill>
                  <a:srgbClr val="126BF6"/>
                </a:solidFill>
              </a:rPr>
              <a:t>ents</a:t>
            </a:r>
          </a:p>
        </p:txBody>
      </p:sp>
      <p:sp>
        <p:nvSpPr>
          <p:cNvPr id="127" name="직선 연결선 16"/>
          <p:cNvSpPr/>
          <p:nvPr/>
        </p:nvSpPr>
        <p:spPr>
          <a:xfrm>
            <a:off x="3459112" y="3589087"/>
            <a:ext cx="361618" cy="400890"/>
          </a:xfrm>
          <a:prstGeom prst="line">
            <a:avLst/>
          </a:prstGeom>
          <a:ln w="6350">
            <a:solidFill>
              <a:srgbClr val="126BF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" name="사각형: 둥근 모서리 7"/>
          <p:cNvSpPr/>
          <p:nvPr/>
        </p:nvSpPr>
        <p:spPr>
          <a:xfrm>
            <a:off x="1556772" y="2300907"/>
            <a:ext cx="642287" cy="634673"/>
          </a:xfrm>
          <a:prstGeom prst="roundRect">
            <a:avLst>
              <a:gd name="adj" fmla="val 50000"/>
            </a:avLst>
          </a:prstGeom>
          <a:gradFill>
            <a:gsLst>
              <a:gs pos="25000">
                <a:srgbClr val="131B6C"/>
              </a:gs>
              <a:gs pos="100000">
                <a:srgbClr val="126BF6">
                  <a:alpha val="36000"/>
                </a:srgbClr>
              </a:gs>
            </a:gsLst>
            <a:lin ang="8100000"/>
          </a:gradFill>
          <a:ln w="12700">
            <a:miter lim="400000"/>
          </a:ln>
          <a:effectLst>
            <a:outerShdw sx="100000" sy="100000" kx="0" ky="0" algn="b" rotWithShape="0" blurRad="660400" dist="38100" dir="0">
              <a:srgbClr val="000000">
                <a:alpha val="13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29" name="그림 3" descr="그림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extBox 4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2</a:t>
            </a:r>
          </a:p>
        </p:txBody>
      </p:sp>
      <p:grpSp>
        <p:nvGrpSpPr>
          <p:cNvPr id="133" name="그림 5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131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132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5"/>
          <p:cNvSpPr txBox="1"/>
          <p:nvPr/>
        </p:nvSpPr>
        <p:spPr>
          <a:xfrm>
            <a:off x="523355" y="615795"/>
            <a:ext cx="6179048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137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01 ｜ 개요</a:t>
            </a:r>
          </a:p>
        </p:txBody>
      </p:sp>
      <p:sp>
        <p:nvSpPr>
          <p:cNvPr id="138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" name="타원 1"/>
          <p:cNvSpPr/>
          <p:nvPr/>
        </p:nvSpPr>
        <p:spPr>
          <a:xfrm>
            <a:off x="3879029" y="2740391"/>
            <a:ext cx="1714113" cy="171411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140" name="타원 4"/>
          <p:cNvSpPr/>
          <p:nvPr/>
        </p:nvSpPr>
        <p:spPr>
          <a:xfrm>
            <a:off x="6572980" y="2780494"/>
            <a:ext cx="1714115" cy="17141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141" name="타원 9"/>
          <p:cNvSpPr/>
          <p:nvPr/>
        </p:nvSpPr>
        <p:spPr>
          <a:xfrm>
            <a:off x="1221249" y="2740391"/>
            <a:ext cx="1714113" cy="171411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142" name="타원 10"/>
          <p:cNvSpPr/>
          <p:nvPr/>
        </p:nvSpPr>
        <p:spPr>
          <a:xfrm>
            <a:off x="9267859" y="2740391"/>
            <a:ext cx="1714113" cy="171411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143" name="Oval 48"/>
          <p:cNvSpPr/>
          <p:nvPr/>
        </p:nvSpPr>
        <p:spPr>
          <a:xfrm rot="16200000">
            <a:off x="3244980" y="3501727"/>
            <a:ext cx="268193" cy="27032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</a:p>
        </p:txBody>
      </p:sp>
      <p:sp>
        <p:nvSpPr>
          <p:cNvPr id="144" name="Freeform 49"/>
          <p:cNvSpPr/>
          <p:nvPr/>
        </p:nvSpPr>
        <p:spPr>
          <a:xfrm rot="16200000">
            <a:off x="3297077" y="3587586"/>
            <a:ext cx="173536" cy="98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/>
            </a:pPr>
          </a:p>
        </p:txBody>
      </p:sp>
      <p:sp>
        <p:nvSpPr>
          <p:cNvPr id="145" name="Oval 48"/>
          <p:cNvSpPr/>
          <p:nvPr/>
        </p:nvSpPr>
        <p:spPr>
          <a:xfrm rot="16200000">
            <a:off x="5916302" y="3501729"/>
            <a:ext cx="268193" cy="27032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</a:p>
        </p:txBody>
      </p:sp>
      <p:sp>
        <p:nvSpPr>
          <p:cNvPr id="146" name="Freeform 49"/>
          <p:cNvSpPr/>
          <p:nvPr/>
        </p:nvSpPr>
        <p:spPr>
          <a:xfrm rot="16200000">
            <a:off x="5968398" y="3587586"/>
            <a:ext cx="173536" cy="98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/>
            </a:pPr>
          </a:p>
        </p:txBody>
      </p:sp>
      <p:sp>
        <p:nvSpPr>
          <p:cNvPr id="147" name="Oval 48"/>
          <p:cNvSpPr/>
          <p:nvPr/>
        </p:nvSpPr>
        <p:spPr>
          <a:xfrm rot="16200000">
            <a:off x="8662227" y="3501729"/>
            <a:ext cx="268193" cy="27032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</a:p>
        </p:txBody>
      </p:sp>
      <p:sp>
        <p:nvSpPr>
          <p:cNvPr id="148" name="Freeform 49"/>
          <p:cNvSpPr/>
          <p:nvPr/>
        </p:nvSpPr>
        <p:spPr>
          <a:xfrm rot="16200000">
            <a:off x="8714323" y="3587589"/>
            <a:ext cx="173536" cy="98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/>
            </a:pPr>
          </a:p>
        </p:txBody>
      </p:sp>
      <p:sp>
        <p:nvSpPr>
          <p:cNvPr id="149" name="TextBox 20"/>
          <p:cNvSpPr txBox="1"/>
          <p:nvPr/>
        </p:nvSpPr>
        <p:spPr>
          <a:xfrm>
            <a:off x="6669902" y="3204784"/>
            <a:ext cx="1524422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03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모델링</a:t>
            </a:r>
          </a:p>
        </p:txBody>
      </p:sp>
      <p:sp>
        <p:nvSpPr>
          <p:cNvPr id="150" name="TextBox 21"/>
          <p:cNvSpPr txBox="1"/>
          <p:nvPr/>
        </p:nvSpPr>
        <p:spPr>
          <a:xfrm>
            <a:off x="886576" y="4661248"/>
            <a:ext cx="2383460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주제 선정 이유 및 문제의식</a:t>
            </a:r>
          </a:p>
        </p:txBody>
      </p:sp>
      <p:sp>
        <p:nvSpPr>
          <p:cNvPr id="151" name="TextBox 22"/>
          <p:cNvSpPr txBox="1"/>
          <p:nvPr/>
        </p:nvSpPr>
        <p:spPr>
          <a:xfrm>
            <a:off x="3538270" y="4661248"/>
            <a:ext cx="2383459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데이터 수집</a:t>
            </a:r>
            <a:r>
              <a:rPr sz="1400"/>
              <a:t>·</a:t>
            </a:r>
            <a:r>
              <a:t>정제</a:t>
            </a:r>
            <a:r>
              <a:rPr sz="1400"/>
              <a:t>·</a:t>
            </a:r>
            <a:r>
              <a:t>전처리</a:t>
            </a:r>
          </a:p>
        </p:txBody>
      </p:sp>
      <p:sp>
        <p:nvSpPr>
          <p:cNvPr id="152" name="TextBox 23"/>
          <p:cNvSpPr txBox="1"/>
          <p:nvPr/>
        </p:nvSpPr>
        <p:spPr>
          <a:xfrm>
            <a:off x="6238771" y="4661248"/>
            <a:ext cx="2383460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모델링 과정 및 평가 방법</a:t>
            </a:r>
          </a:p>
        </p:txBody>
      </p:sp>
      <p:sp>
        <p:nvSpPr>
          <p:cNvPr id="153" name="TextBox 24"/>
          <p:cNvSpPr txBox="1"/>
          <p:nvPr/>
        </p:nvSpPr>
        <p:spPr>
          <a:xfrm>
            <a:off x="8939272" y="4661248"/>
            <a:ext cx="2383460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모델링 결과 및 기대 효과</a:t>
            </a:r>
          </a:p>
        </p:txBody>
      </p:sp>
      <p:sp>
        <p:nvSpPr>
          <p:cNvPr id="154" name="TextBox 25"/>
          <p:cNvSpPr txBox="1"/>
          <p:nvPr/>
        </p:nvSpPr>
        <p:spPr>
          <a:xfrm>
            <a:off x="3973874" y="3204784"/>
            <a:ext cx="1524422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02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데이터 처리</a:t>
            </a:r>
          </a:p>
        </p:txBody>
      </p:sp>
      <p:sp>
        <p:nvSpPr>
          <p:cNvPr id="155" name="TextBox 26"/>
          <p:cNvSpPr txBox="1"/>
          <p:nvPr/>
        </p:nvSpPr>
        <p:spPr>
          <a:xfrm>
            <a:off x="1316093" y="3204784"/>
            <a:ext cx="1524424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01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개요</a:t>
            </a:r>
          </a:p>
        </p:txBody>
      </p:sp>
      <p:sp>
        <p:nvSpPr>
          <p:cNvPr id="156" name="TextBox 27"/>
          <p:cNvSpPr txBox="1"/>
          <p:nvPr/>
        </p:nvSpPr>
        <p:spPr>
          <a:xfrm>
            <a:off x="9362705" y="3204784"/>
            <a:ext cx="1524423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04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결론</a:t>
            </a:r>
          </a:p>
        </p:txBody>
      </p:sp>
      <p:sp>
        <p:nvSpPr>
          <p:cNvPr id="157" name="직선 연결선 28"/>
          <p:cNvSpPr/>
          <p:nvPr/>
        </p:nvSpPr>
        <p:spPr>
          <a:xfrm>
            <a:off x="6720033" y="3587820"/>
            <a:ext cx="1418241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" name="직선 연결선 29"/>
          <p:cNvSpPr/>
          <p:nvPr/>
        </p:nvSpPr>
        <p:spPr>
          <a:xfrm>
            <a:off x="4026965" y="3587820"/>
            <a:ext cx="1418240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" name="직선 연결선 30"/>
          <p:cNvSpPr/>
          <p:nvPr/>
        </p:nvSpPr>
        <p:spPr>
          <a:xfrm>
            <a:off x="1369186" y="3587820"/>
            <a:ext cx="1418241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" name="직선 연결선 31"/>
          <p:cNvSpPr/>
          <p:nvPr/>
        </p:nvSpPr>
        <p:spPr>
          <a:xfrm>
            <a:off x="9415797" y="3587820"/>
            <a:ext cx="1418240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61" name="그림 14" descr="그림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TextBox 1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3</a:t>
            </a:r>
          </a:p>
        </p:txBody>
      </p:sp>
      <p:grpSp>
        <p:nvGrpSpPr>
          <p:cNvPr id="165" name="그림 32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163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164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일상 속 개인화 알고리즘</a:t>
            </a:r>
          </a:p>
        </p:txBody>
      </p:sp>
      <p:sp>
        <p:nvSpPr>
          <p:cNvPr id="169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01 ｜ 개요</a:t>
            </a:r>
          </a:p>
        </p:txBody>
      </p:sp>
      <p:sp>
        <p:nvSpPr>
          <p:cNvPr id="170" name="TextBox 7"/>
          <p:cNvSpPr txBox="1"/>
          <p:nvPr/>
        </p:nvSpPr>
        <p:spPr>
          <a:xfrm>
            <a:off x="2834407" y="1494875"/>
            <a:ext cx="6523181" cy="4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2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사용자 데이터를 기반으로 한 플랫폼 별 맞춤 추천</a:t>
            </a:r>
          </a:p>
        </p:txBody>
      </p:sp>
      <p:sp>
        <p:nvSpPr>
          <p:cNvPr id="171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" name="사각형: 둥근 모서리 1"/>
          <p:cNvSpPr/>
          <p:nvPr/>
        </p:nvSpPr>
        <p:spPr>
          <a:xfrm>
            <a:off x="1428905" y="2296472"/>
            <a:ext cx="4529972" cy="158496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26BF6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173" name="사각형: 둥근 모서리 4"/>
          <p:cNvSpPr/>
          <p:nvPr/>
        </p:nvSpPr>
        <p:spPr>
          <a:xfrm>
            <a:off x="6249353" y="2296472"/>
            <a:ext cx="4529967" cy="158496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26BF6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174" name="사각형: 둥근 모서리 9"/>
          <p:cNvSpPr/>
          <p:nvPr/>
        </p:nvSpPr>
        <p:spPr>
          <a:xfrm>
            <a:off x="1428905" y="4186983"/>
            <a:ext cx="4529972" cy="158496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26BF6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175" name="사각형: 둥근 모서리 10"/>
          <p:cNvSpPr/>
          <p:nvPr/>
        </p:nvSpPr>
        <p:spPr>
          <a:xfrm>
            <a:off x="6249353" y="4186983"/>
            <a:ext cx="4529967" cy="158496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26BF6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grpSp>
        <p:nvGrpSpPr>
          <p:cNvPr id="178" name="타원 11"/>
          <p:cNvGrpSpPr/>
          <p:nvPr/>
        </p:nvGrpSpPr>
        <p:grpSpPr>
          <a:xfrm>
            <a:off x="5346402" y="3256578"/>
            <a:ext cx="1513867" cy="1513867"/>
            <a:chOff x="0" y="0"/>
            <a:chExt cx="1513866" cy="1513866"/>
          </a:xfrm>
        </p:grpSpPr>
        <p:sp>
          <p:nvSpPr>
            <p:cNvPr id="176" name="Circle"/>
            <p:cNvSpPr/>
            <p:nvPr/>
          </p:nvSpPr>
          <p:spPr>
            <a:xfrm>
              <a:off x="-1" y="-1"/>
              <a:ext cx="1513867" cy="1513867"/>
            </a:xfrm>
            <a:prstGeom prst="ellipse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7" name="Algorithm"/>
            <p:cNvSpPr txBox="1"/>
            <p:nvPr/>
          </p:nvSpPr>
          <p:spPr>
            <a:xfrm>
              <a:off x="213946" y="590561"/>
              <a:ext cx="1139444" cy="3327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Algorithm</a:t>
              </a:r>
            </a:p>
          </p:txBody>
        </p:sp>
      </p:grpSp>
      <p:sp>
        <p:nvSpPr>
          <p:cNvPr id="179" name="TextBox 12"/>
          <p:cNvSpPr txBox="1"/>
          <p:nvPr/>
        </p:nvSpPr>
        <p:spPr>
          <a:xfrm>
            <a:off x="2530497" y="2509129"/>
            <a:ext cx="1615334" cy="38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>
                <a:solidFill>
                  <a:srgbClr val="151F9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시청 데이터 분석</a:t>
            </a:r>
          </a:p>
        </p:txBody>
      </p:sp>
      <p:sp>
        <p:nvSpPr>
          <p:cNvPr id="180" name="TextBox 13"/>
          <p:cNvSpPr txBox="1"/>
          <p:nvPr/>
        </p:nvSpPr>
        <p:spPr>
          <a:xfrm>
            <a:off x="1673124" y="2848429"/>
            <a:ext cx="4022198" cy="601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사용자의 과거 시청 이력을 수집·학습</a:t>
            </a:r>
          </a:p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유튜브·인스타 영상 추천에 활용</a:t>
            </a:r>
          </a:p>
        </p:txBody>
      </p:sp>
      <p:sp>
        <p:nvSpPr>
          <p:cNvPr id="181" name="TextBox 14"/>
          <p:cNvSpPr txBox="1"/>
          <p:nvPr/>
        </p:nvSpPr>
        <p:spPr>
          <a:xfrm>
            <a:off x="2390126" y="4403773"/>
            <a:ext cx="1876587" cy="38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>
                <a:solidFill>
                  <a:srgbClr val="151F9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구매·검색 이력 분석</a:t>
            </a:r>
          </a:p>
        </p:txBody>
      </p:sp>
      <p:sp>
        <p:nvSpPr>
          <p:cNvPr id="182" name="TextBox 15"/>
          <p:cNvSpPr txBox="1"/>
          <p:nvPr/>
        </p:nvSpPr>
        <p:spPr>
          <a:xfrm>
            <a:off x="1673124" y="4743077"/>
            <a:ext cx="4022198" cy="601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과거 구매·검색 데이터를 학습</a:t>
            </a:r>
          </a:p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쿠팡 등에서 구매 확률 높은 상품 노출</a:t>
            </a:r>
          </a:p>
        </p:txBody>
      </p:sp>
      <p:sp>
        <p:nvSpPr>
          <p:cNvPr id="183" name="TextBox 16"/>
          <p:cNvSpPr txBox="1"/>
          <p:nvPr/>
        </p:nvSpPr>
        <p:spPr>
          <a:xfrm>
            <a:off x="7578014" y="2509129"/>
            <a:ext cx="1615334" cy="38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>
                <a:solidFill>
                  <a:srgbClr val="151F9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선호도 기반 노출</a:t>
            </a:r>
          </a:p>
        </p:txBody>
      </p:sp>
      <p:sp>
        <p:nvSpPr>
          <p:cNvPr id="184" name="TextBox 17"/>
          <p:cNvSpPr txBox="1"/>
          <p:nvPr/>
        </p:nvSpPr>
        <p:spPr>
          <a:xfrm>
            <a:off x="6743589" y="2848429"/>
            <a:ext cx="4022199" cy="601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선호도 높은 콘텐츠부터 우선 노출</a:t>
            </a:r>
          </a:p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넷플릭스 등 OTT 영상 플랫폼 추천 방식</a:t>
            </a:r>
          </a:p>
        </p:txBody>
      </p:sp>
      <p:sp>
        <p:nvSpPr>
          <p:cNvPr id="185" name="TextBox 18"/>
          <p:cNvSpPr txBox="1"/>
          <p:nvPr/>
        </p:nvSpPr>
        <p:spPr>
          <a:xfrm>
            <a:off x="7578014" y="4403773"/>
            <a:ext cx="1813073" cy="38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>
                <a:solidFill>
                  <a:srgbClr val="151F9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타겟 광고 알고리즘</a:t>
            </a:r>
          </a:p>
        </p:txBody>
      </p:sp>
      <p:sp>
        <p:nvSpPr>
          <p:cNvPr id="186" name="TextBox 19"/>
          <p:cNvSpPr txBox="1"/>
          <p:nvPr/>
        </p:nvSpPr>
        <p:spPr>
          <a:xfrm>
            <a:off x="6743589" y="4743077"/>
            <a:ext cx="4022199" cy="601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검색·클릭 이력을 기반으로 관심사 분석</a:t>
            </a:r>
          </a:p>
          <a:p>
            <a:pPr marL="171450" indent="-171450">
              <a:lnSpc>
                <a:spcPts val="2000"/>
              </a:lnSpc>
              <a:buSzPct val="100000"/>
              <a:buFont typeface="Arial"/>
              <a:buChar char="•"/>
              <a:defRPr sz="14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SNS·포털에서 맞춤형 광고 노출</a:t>
            </a:r>
          </a:p>
        </p:txBody>
      </p:sp>
      <p:pic>
        <p:nvPicPr>
          <p:cNvPr id="187" name="그림 21" descr="그림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TextBox 22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4</a:t>
            </a:r>
          </a:p>
        </p:txBody>
      </p:sp>
      <p:grpSp>
        <p:nvGrpSpPr>
          <p:cNvPr id="191" name="그림 23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189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190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그림 1" descr="그림 1"/>
          <p:cNvPicPr>
            <a:picLocks noChangeAspect="1"/>
          </p:cNvPicPr>
          <p:nvPr/>
        </p:nvPicPr>
        <p:blipFill>
          <a:blip r:embed="rId2">
            <a:extLst/>
          </a:blip>
          <a:srcRect l="2203" t="0" r="10426" b="116"/>
          <a:stretch>
            <a:fillRect/>
          </a:stretch>
        </p:blipFill>
        <p:spPr>
          <a:xfrm>
            <a:off x="293161" y="1399588"/>
            <a:ext cx="5805919" cy="4990495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주제 선정 이유 및 문제 의식</a:t>
            </a:r>
          </a:p>
        </p:txBody>
      </p:sp>
      <p:sp>
        <p:nvSpPr>
          <p:cNvPr id="196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01 ｜ 개요</a:t>
            </a:r>
          </a:p>
        </p:txBody>
      </p:sp>
      <p:sp>
        <p:nvSpPr>
          <p:cNvPr id="197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8" name="TextBox 4"/>
          <p:cNvSpPr txBox="1"/>
          <p:nvPr/>
        </p:nvSpPr>
        <p:spPr>
          <a:xfrm>
            <a:off x="6522715" y="1500948"/>
            <a:ext cx="4409840" cy="44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2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STEAM 맞춤 대기열 한계</a:t>
            </a:r>
          </a:p>
        </p:txBody>
      </p:sp>
      <p:sp>
        <p:nvSpPr>
          <p:cNvPr id="199" name="타원 9"/>
          <p:cNvSpPr/>
          <p:nvPr/>
        </p:nvSpPr>
        <p:spPr>
          <a:xfrm>
            <a:off x="5361771" y="3063193"/>
            <a:ext cx="1669521" cy="1669521"/>
          </a:xfrm>
          <a:prstGeom prst="ellipse">
            <a:avLst/>
          </a:prstGeom>
          <a:solidFill>
            <a:srgbClr val="FFFFFF">
              <a:alpha val="45882"/>
            </a:srgbClr>
          </a:solidFill>
          <a:ln w="28575">
            <a:solidFill>
              <a:srgbClr val="126BF6"/>
            </a:solidFill>
            <a:miter/>
          </a:ln>
          <a:effectLst>
            <a:outerShdw sx="100000" sy="100000" kx="0" ky="0" algn="b" rotWithShape="0" blurRad="50800" dist="38100" dir="2700000">
              <a:schemeClr val="accent3">
                <a:alpha val="12000"/>
              </a:scheme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200" name="자유형: 도형 10"/>
          <p:cNvSpPr/>
          <p:nvPr/>
        </p:nvSpPr>
        <p:spPr>
          <a:xfrm>
            <a:off x="6785811" y="2496685"/>
            <a:ext cx="1341123" cy="7823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0800" y="0"/>
                </a:lnTo>
                <a:lnTo>
                  <a:pt x="21600" y="0"/>
                </a:lnTo>
              </a:path>
            </a:pathLst>
          </a:custGeom>
          <a:ln w="12700">
            <a:solidFill>
              <a:srgbClr val="126BF6"/>
            </a:solidFill>
            <a:miter/>
            <a:tailEnd type="oval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201" name="직선 연결선 11"/>
          <p:cNvSpPr/>
          <p:nvPr/>
        </p:nvSpPr>
        <p:spPr>
          <a:xfrm flipV="1">
            <a:off x="7031286" y="3888822"/>
            <a:ext cx="1070249" cy="9132"/>
          </a:xfrm>
          <a:prstGeom prst="line">
            <a:avLst/>
          </a:prstGeom>
          <a:ln w="12700">
            <a:solidFill>
              <a:srgbClr val="126BF6"/>
            </a:solidFill>
            <a:miter/>
            <a:tailEnd type="oval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타원 13"/>
          <p:cNvSpPr/>
          <p:nvPr/>
        </p:nvSpPr>
        <p:spPr>
          <a:xfrm>
            <a:off x="5547628" y="3249047"/>
            <a:ext cx="1297809" cy="1297808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chemeClr val="accent3">
                <a:alpha val="12000"/>
              </a:scheme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203" name="TextBox 14"/>
          <p:cNvSpPr txBox="1"/>
          <p:nvPr/>
        </p:nvSpPr>
        <p:spPr>
          <a:xfrm>
            <a:off x="5734184" y="3580886"/>
            <a:ext cx="925162" cy="624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맞춤</a:t>
            </a:r>
            <a:endParaRPr>
              <a:latin typeface="+mj-lt"/>
              <a:ea typeface="+mj-ea"/>
              <a:cs typeface="+mj-cs"/>
              <a:sym typeface="Pretendard SemiBold"/>
            </a:endParaRPr>
          </a:p>
          <a:p>
            <a:pPr algn="ctr">
              <a:defRPr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대기열</a:t>
            </a:r>
          </a:p>
        </p:txBody>
      </p:sp>
      <p:sp>
        <p:nvSpPr>
          <p:cNvPr id="204" name="TextBox 15"/>
          <p:cNvSpPr txBox="1"/>
          <p:nvPr/>
        </p:nvSpPr>
        <p:spPr>
          <a:xfrm>
            <a:off x="8328083" y="2356455"/>
            <a:ext cx="2871084" cy="346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사용자 맞춤형 게임 추천 부족</a:t>
            </a:r>
          </a:p>
        </p:txBody>
      </p:sp>
      <p:sp>
        <p:nvSpPr>
          <p:cNvPr id="205" name="TextBox 16"/>
          <p:cNvSpPr txBox="1"/>
          <p:nvPr/>
        </p:nvSpPr>
        <p:spPr>
          <a:xfrm>
            <a:off x="8328083" y="2648511"/>
            <a:ext cx="3502167" cy="323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lnSpc>
                <a:spcPts val="1800"/>
              </a:lnSpc>
              <a:buSzPct val="100000"/>
              <a:buFont typeface="Calibri"/>
              <a:buChar char="-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맞춤 대기열에 신규</a:t>
            </a:r>
            <a:r>
              <a:rPr sz="1400"/>
              <a:t>·</a:t>
            </a:r>
            <a:r>
              <a:t>인기게임 추천</a:t>
            </a:r>
          </a:p>
        </p:txBody>
      </p:sp>
      <p:sp>
        <p:nvSpPr>
          <p:cNvPr id="206" name="TextBox 17"/>
          <p:cNvSpPr txBox="1"/>
          <p:nvPr/>
        </p:nvSpPr>
        <p:spPr>
          <a:xfrm>
            <a:off x="8328083" y="3734439"/>
            <a:ext cx="1995450" cy="346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정량적 수치 부재</a:t>
            </a:r>
          </a:p>
        </p:txBody>
      </p:sp>
      <p:sp>
        <p:nvSpPr>
          <p:cNvPr id="207" name="TextBox 18"/>
          <p:cNvSpPr txBox="1"/>
          <p:nvPr/>
        </p:nvSpPr>
        <p:spPr>
          <a:xfrm>
            <a:off x="8328083" y="4026494"/>
            <a:ext cx="3502167" cy="552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lnSpc>
                <a:spcPts val="1800"/>
              </a:lnSpc>
              <a:buSzPct val="100000"/>
              <a:buFont typeface="Calibri"/>
              <a:buChar char="-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사용자의 게임 선호도의 정량적 수치 부재로 </a:t>
            </a:r>
          </a:p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       게임 구매 의사결정에 기여 불가 </a:t>
            </a:r>
          </a:p>
        </p:txBody>
      </p:sp>
      <p:pic>
        <p:nvPicPr>
          <p:cNvPr id="208" name="그림 21" descr="그림 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Box 22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5</a:t>
            </a:r>
          </a:p>
        </p:txBody>
      </p:sp>
      <p:grpSp>
        <p:nvGrpSpPr>
          <p:cNvPr id="212" name="그림 23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210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211" name="image3.png" descr="image3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213" name="이등변 삼각형 10"/>
          <p:cNvSpPr/>
          <p:nvPr/>
        </p:nvSpPr>
        <p:spPr>
          <a:xfrm rot="10800000">
            <a:off x="8865773" y="4945357"/>
            <a:ext cx="253439" cy="164502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4"/>
          <p:cNvSpPr txBox="1"/>
          <p:nvPr/>
        </p:nvSpPr>
        <p:spPr>
          <a:xfrm>
            <a:off x="5976156" y="5534433"/>
            <a:ext cx="6309053" cy="44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22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개인화</a:t>
            </a:r>
            <a:r>
              <a:rPr>
                <a:solidFill>
                  <a:srgbClr val="000000"/>
                </a:solidFill>
              </a:rPr>
              <a:t>된 사용자 맞춤 대기열 서비스 제시</a:t>
            </a:r>
          </a:p>
        </p:txBody>
      </p:sp>
      <p:sp>
        <p:nvSpPr>
          <p:cNvPr id="215" name="이등변 삼각형 9"/>
          <p:cNvSpPr/>
          <p:nvPr/>
        </p:nvSpPr>
        <p:spPr>
          <a:xfrm rot="10800000">
            <a:off x="8865773" y="5173876"/>
            <a:ext cx="253439" cy="164503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5"/>
          <p:cNvSpPr txBox="1"/>
          <p:nvPr/>
        </p:nvSpPr>
        <p:spPr>
          <a:xfrm>
            <a:off x="523355" y="615795"/>
            <a:ext cx="6179048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219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02 ｜ 데이터 처리</a:t>
            </a:r>
          </a:p>
        </p:txBody>
      </p:sp>
      <p:sp>
        <p:nvSpPr>
          <p:cNvPr id="220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1" name="타원 1"/>
          <p:cNvSpPr/>
          <p:nvPr/>
        </p:nvSpPr>
        <p:spPr>
          <a:xfrm>
            <a:off x="1218712" y="2760442"/>
            <a:ext cx="1714113" cy="17141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222" name="타원 4"/>
          <p:cNvSpPr/>
          <p:nvPr/>
        </p:nvSpPr>
        <p:spPr>
          <a:xfrm>
            <a:off x="6572980" y="2760442"/>
            <a:ext cx="1714115" cy="17141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223" name="타원 9"/>
          <p:cNvSpPr/>
          <p:nvPr/>
        </p:nvSpPr>
        <p:spPr>
          <a:xfrm>
            <a:off x="3854829" y="2760442"/>
            <a:ext cx="1714113" cy="1714112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224" name="타원 10"/>
          <p:cNvSpPr/>
          <p:nvPr/>
        </p:nvSpPr>
        <p:spPr>
          <a:xfrm>
            <a:off x="9267859" y="2760442"/>
            <a:ext cx="1714113" cy="17141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225" name="Oval 48"/>
          <p:cNvSpPr/>
          <p:nvPr/>
        </p:nvSpPr>
        <p:spPr>
          <a:xfrm rot="16200000">
            <a:off x="3244980" y="3482334"/>
            <a:ext cx="268193" cy="27032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</a:p>
        </p:txBody>
      </p:sp>
      <p:sp>
        <p:nvSpPr>
          <p:cNvPr id="226" name="Freeform 49"/>
          <p:cNvSpPr/>
          <p:nvPr/>
        </p:nvSpPr>
        <p:spPr>
          <a:xfrm rot="16200000">
            <a:off x="3297077" y="3569232"/>
            <a:ext cx="173536" cy="98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/>
            </a:pPr>
          </a:p>
        </p:txBody>
      </p:sp>
      <p:sp>
        <p:nvSpPr>
          <p:cNvPr id="227" name="Oval 48"/>
          <p:cNvSpPr/>
          <p:nvPr/>
        </p:nvSpPr>
        <p:spPr>
          <a:xfrm rot="16200000">
            <a:off x="5916302" y="3482332"/>
            <a:ext cx="268193" cy="27032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</a:p>
        </p:txBody>
      </p:sp>
      <p:sp>
        <p:nvSpPr>
          <p:cNvPr id="228" name="Freeform 49"/>
          <p:cNvSpPr/>
          <p:nvPr/>
        </p:nvSpPr>
        <p:spPr>
          <a:xfrm rot="16200000">
            <a:off x="5968398" y="3569232"/>
            <a:ext cx="173536" cy="98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/>
            </a:pPr>
          </a:p>
        </p:txBody>
      </p:sp>
      <p:sp>
        <p:nvSpPr>
          <p:cNvPr id="229" name="Oval 48"/>
          <p:cNvSpPr/>
          <p:nvPr/>
        </p:nvSpPr>
        <p:spPr>
          <a:xfrm rot="16200000">
            <a:off x="8662227" y="3482332"/>
            <a:ext cx="268193" cy="27032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</a:p>
        </p:txBody>
      </p:sp>
      <p:sp>
        <p:nvSpPr>
          <p:cNvPr id="230" name="Freeform 49"/>
          <p:cNvSpPr/>
          <p:nvPr/>
        </p:nvSpPr>
        <p:spPr>
          <a:xfrm rot="16200000">
            <a:off x="8714323" y="3569232"/>
            <a:ext cx="173536" cy="98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/>
            </a:pPr>
          </a:p>
        </p:txBody>
      </p:sp>
      <p:sp>
        <p:nvSpPr>
          <p:cNvPr id="231" name="TextBox 20"/>
          <p:cNvSpPr txBox="1"/>
          <p:nvPr/>
        </p:nvSpPr>
        <p:spPr>
          <a:xfrm>
            <a:off x="6669902" y="3238363"/>
            <a:ext cx="1524422" cy="76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03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모델링</a:t>
            </a:r>
          </a:p>
        </p:txBody>
      </p:sp>
      <p:sp>
        <p:nvSpPr>
          <p:cNvPr id="232" name="TextBox 21"/>
          <p:cNvSpPr txBox="1"/>
          <p:nvPr/>
        </p:nvSpPr>
        <p:spPr>
          <a:xfrm>
            <a:off x="886576" y="4661248"/>
            <a:ext cx="2383460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주제 선정 이유 및 문제의식</a:t>
            </a:r>
          </a:p>
        </p:txBody>
      </p:sp>
      <p:sp>
        <p:nvSpPr>
          <p:cNvPr id="233" name="TextBox 22"/>
          <p:cNvSpPr txBox="1"/>
          <p:nvPr/>
        </p:nvSpPr>
        <p:spPr>
          <a:xfrm>
            <a:off x="3538270" y="4661248"/>
            <a:ext cx="2383459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1900"/>
              </a:lnSpc>
              <a:defRPr sz="1200"/>
            </a:pPr>
            <a:r>
              <a:t>데이터 수집</a:t>
            </a:r>
            <a:r>
              <a:rPr sz="1400"/>
              <a:t>·</a:t>
            </a:r>
            <a:r>
              <a:t>정제</a:t>
            </a:r>
            <a:r>
              <a:rPr sz="1400"/>
              <a:t>·</a:t>
            </a:r>
            <a:r>
              <a:t>전처리</a:t>
            </a:r>
          </a:p>
        </p:txBody>
      </p:sp>
      <p:sp>
        <p:nvSpPr>
          <p:cNvPr id="234" name="TextBox 23"/>
          <p:cNvSpPr txBox="1"/>
          <p:nvPr/>
        </p:nvSpPr>
        <p:spPr>
          <a:xfrm>
            <a:off x="6238771" y="4661248"/>
            <a:ext cx="2383460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모델링 과정 및 평가 방법</a:t>
            </a:r>
          </a:p>
        </p:txBody>
      </p:sp>
      <p:sp>
        <p:nvSpPr>
          <p:cNvPr id="235" name="TextBox 24"/>
          <p:cNvSpPr txBox="1"/>
          <p:nvPr/>
        </p:nvSpPr>
        <p:spPr>
          <a:xfrm>
            <a:off x="8939272" y="4661248"/>
            <a:ext cx="2383460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모델링 결과 및 기대 효과</a:t>
            </a:r>
          </a:p>
        </p:txBody>
      </p:sp>
      <p:sp>
        <p:nvSpPr>
          <p:cNvPr id="236" name="TextBox 25"/>
          <p:cNvSpPr txBox="1"/>
          <p:nvPr/>
        </p:nvSpPr>
        <p:spPr>
          <a:xfrm>
            <a:off x="1313557" y="3228338"/>
            <a:ext cx="1524424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01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개요</a:t>
            </a:r>
          </a:p>
        </p:txBody>
      </p:sp>
      <p:sp>
        <p:nvSpPr>
          <p:cNvPr id="237" name="TextBox 26"/>
          <p:cNvSpPr txBox="1"/>
          <p:nvPr/>
        </p:nvSpPr>
        <p:spPr>
          <a:xfrm>
            <a:off x="3949674" y="3241706"/>
            <a:ext cx="1524422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02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데이터 처리</a:t>
            </a:r>
          </a:p>
        </p:txBody>
      </p:sp>
      <p:sp>
        <p:nvSpPr>
          <p:cNvPr id="238" name="TextBox 27"/>
          <p:cNvSpPr txBox="1"/>
          <p:nvPr/>
        </p:nvSpPr>
        <p:spPr>
          <a:xfrm>
            <a:off x="9362705" y="3228338"/>
            <a:ext cx="1524423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04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결론</a:t>
            </a:r>
          </a:p>
        </p:txBody>
      </p:sp>
      <p:sp>
        <p:nvSpPr>
          <p:cNvPr id="239" name="직선 연결선 28"/>
          <p:cNvSpPr/>
          <p:nvPr/>
        </p:nvSpPr>
        <p:spPr>
          <a:xfrm>
            <a:off x="6720033" y="3616021"/>
            <a:ext cx="1418241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" name="직선 연결선 29"/>
          <p:cNvSpPr/>
          <p:nvPr/>
        </p:nvSpPr>
        <p:spPr>
          <a:xfrm>
            <a:off x="1366649" y="3616021"/>
            <a:ext cx="1418240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" name="직선 연결선 30"/>
          <p:cNvSpPr/>
          <p:nvPr/>
        </p:nvSpPr>
        <p:spPr>
          <a:xfrm>
            <a:off x="4002766" y="3616021"/>
            <a:ext cx="1418240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2" name="직선 연결선 31"/>
          <p:cNvSpPr/>
          <p:nvPr/>
        </p:nvSpPr>
        <p:spPr>
          <a:xfrm>
            <a:off x="9415797" y="3616021"/>
            <a:ext cx="1418240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43" name="그림 14" descr="그림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TextBox 1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6</a:t>
            </a:r>
          </a:p>
        </p:txBody>
      </p:sp>
      <p:grpSp>
        <p:nvGrpSpPr>
          <p:cNvPr id="247" name="그림 32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245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246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수집 방법</a:t>
            </a:r>
          </a:p>
        </p:txBody>
      </p:sp>
      <p:sp>
        <p:nvSpPr>
          <p:cNvPr id="251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02 ｜ 데이터 처리</a:t>
            </a:r>
          </a:p>
        </p:txBody>
      </p:sp>
      <p:sp>
        <p:nvSpPr>
          <p:cNvPr id="252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3" name="Oval 22"/>
          <p:cNvSpPr/>
          <p:nvPr/>
        </p:nvSpPr>
        <p:spPr>
          <a:xfrm>
            <a:off x="549114" y="1815039"/>
            <a:ext cx="678801" cy="678799"/>
          </a:xfrm>
          <a:prstGeom prst="ellipse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254" name="Oval 23"/>
          <p:cNvSpPr/>
          <p:nvPr/>
        </p:nvSpPr>
        <p:spPr>
          <a:xfrm>
            <a:off x="549114" y="3177688"/>
            <a:ext cx="678801" cy="678799"/>
          </a:xfrm>
          <a:prstGeom prst="ellipse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255" name="Oval 24"/>
          <p:cNvSpPr/>
          <p:nvPr/>
        </p:nvSpPr>
        <p:spPr>
          <a:xfrm>
            <a:off x="611363" y="4725292"/>
            <a:ext cx="678801" cy="678799"/>
          </a:xfrm>
          <a:prstGeom prst="ellipse">
            <a:avLst/>
          </a:prstGeom>
          <a:solidFill>
            <a:srgbClr val="151F9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256" name="Freeform: Shape 26"/>
          <p:cNvSpPr/>
          <p:nvPr/>
        </p:nvSpPr>
        <p:spPr>
          <a:xfrm>
            <a:off x="728305" y="3356797"/>
            <a:ext cx="340124" cy="340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75" y="1592"/>
                </a:moveTo>
                <a:cubicBezTo>
                  <a:pt x="4943" y="525"/>
                  <a:pt x="6210" y="0"/>
                  <a:pt x="7695" y="0"/>
                </a:cubicBezTo>
                <a:cubicBezTo>
                  <a:pt x="9180" y="0"/>
                  <a:pt x="10447" y="525"/>
                  <a:pt x="11515" y="1592"/>
                </a:cubicBezTo>
                <a:cubicBezTo>
                  <a:pt x="12583" y="2659"/>
                  <a:pt x="13108" y="3926"/>
                  <a:pt x="13108" y="5409"/>
                </a:cubicBezTo>
                <a:cubicBezTo>
                  <a:pt x="13108" y="6314"/>
                  <a:pt x="12891" y="7164"/>
                  <a:pt x="12457" y="7960"/>
                </a:cubicBezTo>
                <a:cubicBezTo>
                  <a:pt x="12022" y="8756"/>
                  <a:pt x="11443" y="9407"/>
                  <a:pt x="10700" y="9895"/>
                </a:cubicBezTo>
                <a:cubicBezTo>
                  <a:pt x="11153" y="10094"/>
                  <a:pt x="11515" y="10257"/>
                  <a:pt x="11805" y="10420"/>
                </a:cubicBezTo>
                <a:cubicBezTo>
                  <a:pt x="12891" y="9642"/>
                  <a:pt x="14104" y="9262"/>
                  <a:pt x="15426" y="9262"/>
                </a:cubicBezTo>
                <a:cubicBezTo>
                  <a:pt x="17128" y="9262"/>
                  <a:pt x="18594" y="9859"/>
                  <a:pt x="19789" y="11071"/>
                </a:cubicBezTo>
                <a:cubicBezTo>
                  <a:pt x="20984" y="12283"/>
                  <a:pt x="21600" y="13731"/>
                  <a:pt x="21600" y="15431"/>
                </a:cubicBezTo>
                <a:cubicBezTo>
                  <a:pt x="21600" y="17132"/>
                  <a:pt x="21002" y="18597"/>
                  <a:pt x="19789" y="19791"/>
                </a:cubicBezTo>
                <a:cubicBezTo>
                  <a:pt x="18576" y="20985"/>
                  <a:pt x="17128" y="21600"/>
                  <a:pt x="15426" y="21600"/>
                </a:cubicBezTo>
                <a:cubicBezTo>
                  <a:pt x="13724" y="21600"/>
                  <a:pt x="12257" y="21003"/>
                  <a:pt x="11063" y="19791"/>
                </a:cubicBezTo>
                <a:cubicBezTo>
                  <a:pt x="9868" y="18579"/>
                  <a:pt x="9252" y="17132"/>
                  <a:pt x="9252" y="15431"/>
                </a:cubicBezTo>
                <a:cubicBezTo>
                  <a:pt x="9252" y="13984"/>
                  <a:pt x="9705" y="12700"/>
                  <a:pt x="10610" y="11578"/>
                </a:cubicBezTo>
                <a:cubicBezTo>
                  <a:pt x="9705" y="11071"/>
                  <a:pt x="8745" y="10800"/>
                  <a:pt x="7713" y="10800"/>
                </a:cubicBezTo>
                <a:cubicBezTo>
                  <a:pt x="6011" y="10800"/>
                  <a:pt x="4545" y="11397"/>
                  <a:pt x="3350" y="12609"/>
                </a:cubicBezTo>
                <a:cubicBezTo>
                  <a:pt x="2155" y="13821"/>
                  <a:pt x="1539" y="15268"/>
                  <a:pt x="1539" y="16969"/>
                </a:cubicBezTo>
                <a:lnTo>
                  <a:pt x="0" y="16969"/>
                </a:lnTo>
                <a:cubicBezTo>
                  <a:pt x="0" y="15395"/>
                  <a:pt x="435" y="13966"/>
                  <a:pt x="1304" y="12700"/>
                </a:cubicBezTo>
                <a:cubicBezTo>
                  <a:pt x="2173" y="11433"/>
                  <a:pt x="3313" y="10492"/>
                  <a:pt x="4726" y="9877"/>
                </a:cubicBezTo>
                <a:cubicBezTo>
                  <a:pt x="3983" y="9389"/>
                  <a:pt x="3404" y="8756"/>
                  <a:pt x="2969" y="7942"/>
                </a:cubicBezTo>
                <a:cubicBezTo>
                  <a:pt x="2535" y="7146"/>
                  <a:pt x="2318" y="6277"/>
                  <a:pt x="2318" y="5391"/>
                </a:cubicBezTo>
                <a:cubicBezTo>
                  <a:pt x="2281" y="3926"/>
                  <a:pt x="2806" y="2659"/>
                  <a:pt x="3875" y="1592"/>
                </a:cubicBezTo>
                <a:close/>
                <a:moveTo>
                  <a:pt x="10411" y="2677"/>
                </a:moveTo>
                <a:cubicBezTo>
                  <a:pt x="9650" y="1918"/>
                  <a:pt x="8745" y="1538"/>
                  <a:pt x="7677" y="1538"/>
                </a:cubicBezTo>
                <a:cubicBezTo>
                  <a:pt x="6609" y="1538"/>
                  <a:pt x="5703" y="1918"/>
                  <a:pt x="4943" y="2677"/>
                </a:cubicBezTo>
                <a:cubicBezTo>
                  <a:pt x="4182" y="3437"/>
                  <a:pt x="3802" y="4342"/>
                  <a:pt x="3802" y="5409"/>
                </a:cubicBezTo>
                <a:cubicBezTo>
                  <a:pt x="3802" y="6476"/>
                  <a:pt x="4182" y="7381"/>
                  <a:pt x="4943" y="8141"/>
                </a:cubicBezTo>
                <a:cubicBezTo>
                  <a:pt x="5703" y="8901"/>
                  <a:pt x="6609" y="9280"/>
                  <a:pt x="7677" y="9280"/>
                </a:cubicBezTo>
                <a:cubicBezTo>
                  <a:pt x="8745" y="9280"/>
                  <a:pt x="9650" y="8901"/>
                  <a:pt x="10411" y="8141"/>
                </a:cubicBezTo>
                <a:cubicBezTo>
                  <a:pt x="11171" y="7381"/>
                  <a:pt x="11551" y="6476"/>
                  <a:pt x="11551" y="5409"/>
                </a:cubicBezTo>
                <a:cubicBezTo>
                  <a:pt x="11551" y="4342"/>
                  <a:pt x="11171" y="3437"/>
                  <a:pt x="10411" y="2677"/>
                </a:cubicBezTo>
                <a:close/>
                <a:moveTo>
                  <a:pt x="18685" y="12157"/>
                </a:moveTo>
                <a:cubicBezTo>
                  <a:pt x="17780" y="11252"/>
                  <a:pt x="16693" y="10800"/>
                  <a:pt x="15408" y="10800"/>
                </a:cubicBezTo>
                <a:cubicBezTo>
                  <a:pt x="14122" y="10800"/>
                  <a:pt x="13018" y="11252"/>
                  <a:pt x="12131" y="12157"/>
                </a:cubicBezTo>
                <a:cubicBezTo>
                  <a:pt x="11225" y="13061"/>
                  <a:pt x="10773" y="14147"/>
                  <a:pt x="10773" y="15431"/>
                </a:cubicBezTo>
                <a:cubicBezTo>
                  <a:pt x="10773" y="16716"/>
                  <a:pt x="11225" y="17819"/>
                  <a:pt x="12131" y="18706"/>
                </a:cubicBezTo>
                <a:cubicBezTo>
                  <a:pt x="13036" y="19610"/>
                  <a:pt x="14122" y="20062"/>
                  <a:pt x="15408" y="20062"/>
                </a:cubicBezTo>
                <a:cubicBezTo>
                  <a:pt x="16693" y="20062"/>
                  <a:pt x="17798" y="19610"/>
                  <a:pt x="18685" y="18706"/>
                </a:cubicBezTo>
                <a:cubicBezTo>
                  <a:pt x="19590" y="17801"/>
                  <a:pt x="20043" y="16716"/>
                  <a:pt x="20043" y="15431"/>
                </a:cubicBezTo>
                <a:cubicBezTo>
                  <a:pt x="20043" y="14147"/>
                  <a:pt x="19590" y="13061"/>
                  <a:pt x="18685" y="12157"/>
                </a:cubicBezTo>
                <a:close/>
                <a:moveTo>
                  <a:pt x="14629" y="12356"/>
                </a:moveTo>
                <a:lnTo>
                  <a:pt x="16168" y="12356"/>
                </a:lnTo>
                <a:lnTo>
                  <a:pt x="16168" y="14671"/>
                </a:lnTo>
                <a:lnTo>
                  <a:pt x="18486" y="14671"/>
                </a:lnTo>
                <a:lnTo>
                  <a:pt x="18486" y="16209"/>
                </a:lnTo>
                <a:lnTo>
                  <a:pt x="16168" y="16209"/>
                </a:lnTo>
                <a:lnTo>
                  <a:pt x="16168" y="18525"/>
                </a:lnTo>
                <a:lnTo>
                  <a:pt x="14629" y="18525"/>
                </a:lnTo>
                <a:lnTo>
                  <a:pt x="14629" y="16209"/>
                </a:lnTo>
                <a:lnTo>
                  <a:pt x="12312" y="16209"/>
                </a:lnTo>
                <a:lnTo>
                  <a:pt x="12312" y="14671"/>
                </a:lnTo>
                <a:lnTo>
                  <a:pt x="14629" y="14671"/>
                </a:lnTo>
                <a:lnTo>
                  <a:pt x="14629" y="1235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257" name="Freeform: Shape 27"/>
          <p:cNvSpPr/>
          <p:nvPr/>
        </p:nvSpPr>
        <p:spPr>
          <a:xfrm>
            <a:off x="816767" y="4900758"/>
            <a:ext cx="267993" cy="328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812" y="0"/>
                </a:moveTo>
                <a:cubicBezTo>
                  <a:pt x="11007" y="0"/>
                  <a:pt x="11857" y="525"/>
                  <a:pt x="12386" y="1594"/>
                </a:cubicBezTo>
                <a:lnTo>
                  <a:pt x="19624" y="1594"/>
                </a:lnTo>
                <a:lnTo>
                  <a:pt x="19624" y="8794"/>
                </a:lnTo>
                <a:lnTo>
                  <a:pt x="21600" y="8794"/>
                </a:lnTo>
                <a:lnTo>
                  <a:pt x="21600" y="21600"/>
                </a:lnTo>
                <a:lnTo>
                  <a:pt x="7859" y="21600"/>
                </a:lnTo>
                <a:lnTo>
                  <a:pt x="7859" y="19987"/>
                </a:lnTo>
                <a:lnTo>
                  <a:pt x="0" y="19987"/>
                </a:lnTo>
                <a:lnTo>
                  <a:pt x="0" y="1575"/>
                </a:lnTo>
                <a:lnTo>
                  <a:pt x="7238" y="1575"/>
                </a:lnTo>
                <a:cubicBezTo>
                  <a:pt x="7790" y="544"/>
                  <a:pt x="8640" y="0"/>
                  <a:pt x="9812" y="0"/>
                </a:cubicBezTo>
                <a:close/>
                <a:moveTo>
                  <a:pt x="1976" y="3206"/>
                </a:moveTo>
                <a:lnTo>
                  <a:pt x="1976" y="18394"/>
                </a:lnTo>
                <a:lnTo>
                  <a:pt x="7859" y="18394"/>
                </a:lnTo>
                <a:lnTo>
                  <a:pt x="7859" y="8794"/>
                </a:lnTo>
                <a:lnTo>
                  <a:pt x="17671" y="8794"/>
                </a:lnTo>
                <a:lnTo>
                  <a:pt x="17671" y="3187"/>
                </a:lnTo>
                <a:lnTo>
                  <a:pt x="15717" y="3187"/>
                </a:lnTo>
                <a:lnTo>
                  <a:pt x="15717" y="6394"/>
                </a:lnTo>
                <a:lnTo>
                  <a:pt x="3929" y="6394"/>
                </a:lnTo>
                <a:lnTo>
                  <a:pt x="3929" y="3187"/>
                </a:lnTo>
                <a:lnTo>
                  <a:pt x="1976" y="3187"/>
                </a:lnTo>
                <a:close/>
                <a:moveTo>
                  <a:pt x="10524" y="1819"/>
                </a:moveTo>
                <a:cubicBezTo>
                  <a:pt x="10340" y="1669"/>
                  <a:pt x="10111" y="1594"/>
                  <a:pt x="9812" y="1594"/>
                </a:cubicBezTo>
                <a:cubicBezTo>
                  <a:pt x="9536" y="1594"/>
                  <a:pt x="9283" y="1669"/>
                  <a:pt x="9100" y="1819"/>
                </a:cubicBezTo>
                <a:cubicBezTo>
                  <a:pt x="8916" y="1969"/>
                  <a:pt x="8824" y="2156"/>
                  <a:pt x="8824" y="2400"/>
                </a:cubicBezTo>
                <a:lnTo>
                  <a:pt x="8824" y="3206"/>
                </a:lnTo>
                <a:lnTo>
                  <a:pt x="5883" y="3206"/>
                </a:lnTo>
                <a:lnTo>
                  <a:pt x="5883" y="4800"/>
                </a:lnTo>
                <a:lnTo>
                  <a:pt x="13718" y="4800"/>
                </a:lnTo>
                <a:lnTo>
                  <a:pt x="13718" y="3206"/>
                </a:lnTo>
                <a:lnTo>
                  <a:pt x="10777" y="3206"/>
                </a:lnTo>
                <a:lnTo>
                  <a:pt x="10777" y="2400"/>
                </a:lnTo>
                <a:cubicBezTo>
                  <a:pt x="10800" y="2175"/>
                  <a:pt x="10708" y="1969"/>
                  <a:pt x="10524" y="1819"/>
                </a:cubicBezTo>
                <a:close/>
                <a:moveTo>
                  <a:pt x="9812" y="10406"/>
                </a:moveTo>
                <a:lnTo>
                  <a:pt x="9812" y="20006"/>
                </a:lnTo>
                <a:lnTo>
                  <a:pt x="19624" y="20006"/>
                </a:lnTo>
                <a:lnTo>
                  <a:pt x="19624" y="10406"/>
                </a:lnTo>
                <a:lnTo>
                  <a:pt x="9812" y="1040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258" name="TextBox 36"/>
          <p:cNvSpPr txBox="1"/>
          <p:nvPr/>
        </p:nvSpPr>
        <p:spPr>
          <a:xfrm>
            <a:off x="1356343" y="1827390"/>
            <a:ext cx="1215201" cy="346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시드게임 선정</a:t>
            </a:r>
          </a:p>
        </p:txBody>
      </p:sp>
      <p:sp>
        <p:nvSpPr>
          <p:cNvPr id="259" name="TextBox 37"/>
          <p:cNvSpPr txBox="1"/>
          <p:nvPr/>
        </p:nvSpPr>
        <p:spPr>
          <a:xfrm>
            <a:off x="1329605" y="2163983"/>
            <a:ext cx="5347041" cy="520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Steam 인기 장르 상위 6개 선택</a:t>
            </a:r>
          </a:p>
          <a:p>
            <a: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각 장르에서 top 10 게임을 선정해 총 60개의 시드 게임을 시작점</a:t>
            </a:r>
          </a:p>
        </p:txBody>
      </p:sp>
      <p:sp>
        <p:nvSpPr>
          <p:cNvPr id="260" name="TextBox 38"/>
          <p:cNvSpPr txBox="1"/>
          <p:nvPr/>
        </p:nvSpPr>
        <p:spPr>
          <a:xfrm>
            <a:off x="1356343" y="3173809"/>
            <a:ext cx="1039432" cy="346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유저 샘플링</a:t>
            </a:r>
          </a:p>
        </p:txBody>
      </p:sp>
      <p:sp>
        <p:nvSpPr>
          <p:cNvPr id="261" name="TextBox 39"/>
          <p:cNvSpPr txBox="1"/>
          <p:nvPr/>
        </p:nvSpPr>
        <p:spPr>
          <a:xfrm>
            <a:off x="1336291" y="3523770"/>
            <a:ext cx="4732090" cy="950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각 시드 게임의 Steam 리뷰 작성자 중 </a:t>
            </a:r>
          </a:p>
          <a:p>
            <a:pPr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    조건을 만족하는 유저를 게임당 15명씩 추출</a:t>
            </a:r>
          </a:p>
          <a:p>
            <a: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조건 : 해당 게임 최소 플레이타임 600분 이상, 보유 게임 50개 이상</a:t>
            </a:r>
          </a:p>
          <a:p>
            <a: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steamid를 set에 모아 유저 중복 방지</a:t>
            </a:r>
          </a:p>
        </p:txBody>
      </p:sp>
      <p:sp>
        <p:nvSpPr>
          <p:cNvPr id="262" name="TextBox 40"/>
          <p:cNvSpPr txBox="1"/>
          <p:nvPr/>
        </p:nvSpPr>
        <p:spPr>
          <a:xfrm>
            <a:off x="1418592" y="4744601"/>
            <a:ext cx="2903622" cy="346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유저별 보유 게임 및 게임 정보 수집</a:t>
            </a:r>
          </a:p>
        </p:txBody>
      </p:sp>
      <p:sp>
        <p:nvSpPr>
          <p:cNvPr id="263" name="TextBox 41"/>
          <p:cNvSpPr txBox="1"/>
          <p:nvPr/>
        </p:nvSpPr>
        <p:spPr>
          <a:xfrm>
            <a:off x="1418592" y="5087875"/>
            <a:ext cx="4036935" cy="735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서로 다른 API와 스토어 페이지 HTML 스크래핑 결과를 통합하여 게임 정보 수집</a:t>
            </a:r>
          </a:p>
          <a:p>
            <a:pPr marL="171450" indent="-171450">
              <a:buSzPct val="100000"/>
              <a:buFont typeface="Arial"/>
              <a:buChar char="•"/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유저별 보유 게임 중 플레이타임 TOP 30 추출</a:t>
            </a:r>
          </a:p>
        </p:txBody>
      </p:sp>
      <p:sp>
        <p:nvSpPr>
          <p:cNvPr id="264" name="Freeform: Shape 26"/>
          <p:cNvSpPr/>
          <p:nvPr/>
        </p:nvSpPr>
        <p:spPr>
          <a:xfrm>
            <a:off x="721423" y="1982664"/>
            <a:ext cx="336364" cy="346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383" y="0"/>
                </a:moveTo>
                <a:lnTo>
                  <a:pt x="13217" y="0"/>
                </a:lnTo>
                <a:lnTo>
                  <a:pt x="13377" y="682"/>
                </a:lnTo>
                <a:lnTo>
                  <a:pt x="13859" y="3119"/>
                </a:lnTo>
                <a:cubicBezTo>
                  <a:pt x="14641" y="3431"/>
                  <a:pt x="15383" y="3860"/>
                  <a:pt x="16045" y="4425"/>
                </a:cubicBezTo>
                <a:lnTo>
                  <a:pt x="18552" y="3587"/>
                </a:lnTo>
                <a:lnTo>
                  <a:pt x="19253" y="3373"/>
                </a:lnTo>
                <a:lnTo>
                  <a:pt x="19574" y="3938"/>
                </a:lnTo>
                <a:lnTo>
                  <a:pt x="21279" y="6843"/>
                </a:lnTo>
                <a:lnTo>
                  <a:pt x="21600" y="7408"/>
                </a:lnTo>
                <a:lnTo>
                  <a:pt x="21119" y="7876"/>
                </a:lnTo>
                <a:lnTo>
                  <a:pt x="19193" y="9494"/>
                </a:lnTo>
                <a:cubicBezTo>
                  <a:pt x="19294" y="10118"/>
                  <a:pt x="19354" y="10547"/>
                  <a:pt x="19354" y="10800"/>
                </a:cubicBezTo>
                <a:cubicBezTo>
                  <a:pt x="19354" y="11034"/>
                  <a:pt x="19294" y="11482"/>
                  <a:pt x="19193" y="12106"/>
                </a:cubicBezTo>
                <a:lnTo>
                  <a:pt x="21119" y="13724"/>
                </a:lnTo>
                <a:lnTo>
                  <a:pt x="21600" y="14192"/>
                </a:lnTo>
                <a:lnTo>
                  <a:pt x="21279" y="14757"/>
                </a:lnTo>
                <a:lnTo>
                  <a:pt x="19574" y="17662"/>
                </a:lnTo>
                <a:lnTo>
                  <a:pt x="19253" y="18227"/>
                </a:lnTo>
                <a:lnTo>
                  <a:pt x="18552" y="18013"/>
                </a:lnTo>
                <a:lnTo>
                  <a:pt x="16045" y="17175"/>
                </a:lnTo>
                <a:cubicBezTo>
                  <a:pt x="15363" y="17721"/>
                  <a:pt x="14641" y="18169"/>
                  <a:pt x="13859" y="18481"/>
                </a:cubicBezTo>
                <a:lnTo>
                  <a:pt x="13377" y="20918"/>
                </a:lnTo>
                <a:lnTo>
                  <a:pt x="13217" y="21600"/>
                </a:lnTo>
                <a:lnTo>
                  <a:pt x="8383" y="21600"/>
                </a:lnTo>
                <a:lnTo>
                  <a:pt x="8223" y="20918"/>
                </a:lnTo>
                <a:lnTo>
                  <a:pt x="7742" y="18481"/>
                </a:lnTo>
                <a:cubicBezTo>
                  <a:pt x="6959" y="18169"/>
                  <a:pt x="6217" y="17740"/>
                  <a:pt x="5555" y="17175"/>
                </a:cubicBezTo>
                <a:lnTo>
                  <a:pt x="3048" y="18013"/>
                </a:lnTo>
                <a:lnTo>
                  <a:pt x="2347" y="18227"/>
                </a:lnTo>
                <a:lnTo>
                  <a:pt x="2026" y="17662"/>
                </a:lnTo>
                <a:lnTo>
                  <a:pt x="321" y="14757"/>
                </a:lnTo>
                <a:lnTo>
                  <a:pt x="0" y="14192"/>
                </a:lnTo>
                <a:lnTo>
                  <a:pt x="481" y="13724"/>
                </a:lnTo>
                <a:lnTo>
                  <a:pt x="2407" y="12106"/>
                </a:lnTo>
                <a:cubicBezTo>
                  <a:pt x="2306" y="11482"/>
                  <a:pt x="2246" y="11053"/>
                  <a:pt x="2246" y="10800"/>
                </a:cubicBezTo>
                <a:cubicBezTo>
                  <a:pt x="2246" y="10566"/>
                  <a:pt x="2306" y="10118"/>
                  <a:pt x="2407" y="9494"/>
                </a:cubicBezTo>
                <a:lnTo>
                  <a:pt x="481" y="7876"/>
                </a:lnTo>
                <a:lnTo>
                  <a:pt x="0" y="7408"/>
                </a:lnTo>
                <a:lnTo>
                  <a:pt x="321" y="6843"/>
                </a:lnTo>
                <a:lnTo>
                  <a:pt x="2026" y="3938"/>
                </a:lnTo>
                <a:lnTo>
                  <a:pt x="2347" y="3373"/>
                </a:lnTo>
                <a:lnTo>
                  <a:pt x="3048" y="3587"/>
                </a:lnTo>
                <a:lnTo>
                  <a:pt x="5555" y="4425"/>
                </a:lnTo>
                <a:cubicBezTo>
                  <a:pt x="6237" y="3879"/>
                  <a:pt x="6959" y="3431"/>
                  <a:pt x="7742" y="3119"/>
                </a:cubicBezTo>
                <a:lnTo>
                  <a:pt x="8223" y="682"/>
                </a:lnTo>
                <a:lnTo>
                  <a:pt x="8383" y="0"/>
                </a:lnTo>
                <a:close/>
                <a:moveTo>
                  <a:pt x="9767" y="1677"/>
                </a:moveTo>
                <a:lnTo>
                  <a:pt x="9346" y="3860"/>
                </a:lnTo>
                <a:lnTo>
                  <a:pt x="9246" y="4328"/>
                </a:lnTo>
                <a:lnTo>
                  <a:pt x="8764" y="4484"/>
                </a:lnTo>
                <a:cubicBezTo>
                  <a:pt x="7802" y="4796"/>
                  <a:pt x="6939" y="5283"/>
                  <a:pt x="6197" y="5946"/>
                </a:cubicBezTo>
                <a:lnTo>
                  <a:pt x="5776" y="6258"/>
                </a:lnTo>
                <a:lnTo>
                  <a:pt x="5355" y="6160"/>
                </a:lnTo>
                <a:lnTo>
                  <a:pt x="3169" y="5439"/>
                </a:lnTo>
                <a:lnTo>
                  <a:pt x="2146" y="7096"/>
                </a:lnTo>
                <a:lnTo>
                  <a:pt x="3851" y="8558"/>
                </a:lnTo>
                <a:lnTo>
                  <a:pt x="4272" y="8870"/>
                </a:lnTo>
                <a:lnTo>
                  <a:pt x="4111" y="9396"/>
                </a:lnTo>
                <a:cubicBezTo>
                  <a:pt x="4011" y="9845"/>
                  <a:pt x="3951" y="10332"/>
                  <a:pt x="3951" y="10858"/>
                </a:cubicBezTo>
                <a:cubicBezTo>
                  <a:pt x="3951" y="11385"/>
                  <a:pt x="4011" y="11872"/>
                  <a:pt x="4111" y="12321"/>
                </a:cubicBezTo>
                <a:lnTo>
                  <a:pt x="4272" y="12847"/>
                </a:lnTo>
                <a:lnTo>
                  <a:pt x="3851" y="13159"/>
                </a:lnTo>
                <a:lnTo>
                  <a:pt x="2146" y="14621"/>
                </a:lnTo>
                <a:lnTo>
                  <a:pt x="3169" y="16278"/>
                </a:lnTo>
                <a:lnTo>
                  <a:pt x="5355" y="15557"/>
                </a:lnTo>
                <a:lnTo>
                  <a:pt x="5776" y="15459"/>
                </a:lnTo>
                <a:lnTo>
                  <a:pt x="6197" y="15771"/>
                </a:lnTo>
                <a:cubicBezTo>
                  <a:pt x="6939" y="16434"/>
                  <a:pt x="7802" y="16921"/>
                  <a:pt x="8764" y="17233"/>
                </a:cubicBezTo>
                <a:lnTo>
                  <a:pt x="9246" y="17389"/>
                </a:lnTo>
                <a:lnTo>
                  <a:pt x="9346" y="17857"/>
                </a:lnTo>
                <a:lnTo>
                  <a:pt x="9767" y="20040"/>
                </a:lnTo>
                <a:lnTo>
                  <a:pt x="11793" y="20040"/>
                </a:lnTo>
                <a:lnTo>
                  <a:pt x="12214" y="17857"/>
                </a:lnTo>
                <a:lnTo>
                  <a:pt x="12314" y="17389"/>
                </a:lnTo>
                <a:lnTo>
                  <a:pt x="12796" y="17233"/>
                </a:lnTo>
                <a:cubicBezTo>
                  <a:pt x="13758" y="16921"/>
                  <a:pt x="14621" y="16434"/>
                  <a:pt x="15363" y="15771"/>
                </a:cubicBezTo>
                <a:lnTo>
                  <a:pt x="15784" y="15459"/>
                </a:lnTo>
                <a:lnTo>
                  <a:pt x="16205" y="15557"/>
                </a:lnTo>
                <a:lnTo>
                  <a:pt x="18391" y="16278"/>
                </a:lnTo>
                <a:lnTo>
                  <a:pt x="19414" y="14621"/>
                </a:lnTo>
                <a:lnTo>
                  <a:pt x="17709" y="13159"/>
                </a:lnTo>
                <a:lnTo>
                  <a:pt x="17328" y="12847"/>
                </a:lnTo>
                <a:lnTo>
                  <a:pt x="17428" y="12321"/>
                </a:lnTo>
                <a:cubicBezTo>
                  <a:pt x="17529" y="11872"/>
                  <a:pt x="17589" y="11385"/>
                  <a:pt x="17589" y="10858"/>
                </a:cubicBezTo>
                <a:cubicBezTo>
                  <a:pt x="17589" y="10332"/>
                  <a:pt x="17529" y="9845"/>
                  <a:pt x="17428" y="9396"/>
                </a:cubicBezTo>
                <a:lnTo>
                  <a:pt x="17268" y="8870"/>
                </a:lnTo>
                <a:lnTo>
                  <a:pt x="17689" y="8558"/>
                </a:lnTo>
                <a:lnTo>
                  <a:pt x="19394" y="7096"/>
                </a:lnTo>
                <a:lnTo>
                  <a:pt x="18371" y="5439"/>
                </a:lnTo>
                <a:lnTo>
                  <a:pt x="16185" y="6160"/>
                </a:lnTo>
                <a:lnTo>
                  <a:pt x="15764" y="6258"/>
                </a:lnTo>
                <a:lnTo>
                  <a:pt x="15343" y="5946"/>
                </a:lnTo>
                <a:cubicBezTo>
                  <a:pt x="14601" y="5283"/>
                  <a:pt x="13738" y="4796"/>
                  <a:pt x="12775" y="4484"/>
                </a:cubicBezTo>
                <a:lnTo>
                  <a:pt x="12294" y="4328"/>
                </a:lnTo>
                <a:lnTo>
                  <a:pt x="12194" y="3860"/>
                </a:lnTo>
                <a:lnTo>
                  <a:pt x="11773" y="1677"/>
                </a:lnTo>
                <a:lnTo>
                  <a:pt x="9767" y="1677"/>
                </a:lnTo>
                <a:close/>
                <a:moveTo>
                  <a:pt x="7762" y="7876"/>
                </a:moveTo>
                <a:cubicBezTo>
                  <a:pt x="8604" y="7057"/>
                  <a:pt x="9607" y="6648"/>
                  <a:pt x="10790" y="6648"/>
                </a:cubicBezTo>
                <a:cubicBezTo>
                  <a:pt x="11973" y="6648"/>
                  <a:pt x="12976" y="7057"/>
                  <a:pt x="13818" y="7876"/>
                </a:cubicBezTo>
                <a:cubicBezTo>
                  <a:pt x="14661" y="8695"/>
                  <a:pt x="15082" y="9669"/>
                  <a:pt x="15082" y="10819"/>
                </a:cubicBezTo>
                <a:cubicBezTo>
                  <a:pt x="15082" y="11970"/>
                  <a:pt x="14661" y="12944"/>
                  <a:pt x="13818" y="13763"/>
                </a:cubicBezTo>
                <a:cubicBezTo>
                  <a:pt x="12976" y="14582"/>
                  <a:pt x="11973" y="14991"/>
                  <a:pt x="10790" y="14991"/>
                </a:cubicBezTo>
                <a:cubicBezTo>
                  <a:pt x="9607" y="14991"/>
                  <a:pt x="8604" y="14582"/>
                  <a:pt x="7762" y="13763"/>
                </a:cubicBezTo>
                <a:cubicBezTo>
                  <a:pt x="6919" y="12944"/>
                  <a:pt x="6498" y="11970"/>
                  <a:pt x="6498" y="10819"/>
                </a:cubicBezTo>
                <a:cubicBezTo>
                  <a:pt x="6498" y="9669"/>
                  <a:pt x="6939" y="8695"/>
                  <a:pt x="7762" y="7876"/>
                </a:cubicBezTo>
                <a:close/>
                <a:moveTo>
                  <a:pt x="12615" y="9046"/>
                </a:moveTo>
                <a:cubicBezTo>
                  <a:pt x="12114" y="8558"/>
                  <a:pt x="11512" y="8324"/>
                  <a:pt x="10790" y="8324"/>
                </a:cubicBezTo>
                <a:cubicBezTo>
                  <a:pt x="10068" y="8324"/>
                  <a:pt x="9466" y="8558"/>
                  <a:pt x="8965" y="9046"/>
                </a:cubicBezTo>
                <a:cubicBezTo>
                  <a:pt x="8464" y="9533"/>
                  <a:pt x="8223" y="10118"/>
                  <a:pt x="8223" y="10819"/>
                </a:cubicBezTo>
                <a:cubicBezTo>
                  <a:pt x="8223" y="11521"/>
                  <a:pt x="8464" y="12106"/>
                  <a:pt x="8965" y="12593"/>
                </a:cubicBezTo>
                <a:cubicBezTo>
                  <a:pt x="9466" y="13081"/>
                  <a:pt x="10068" y="13315"/>
                  <a:pt x="10790" y="13315"/>
                </a:cubicBezTo>
                <a:cubicBezTo>
                  <a:pt x="11512" y="13315"/>
                  <a:pt x="12114" y="13081"/>
                  <a:pt x="12615" y="12593"/>
                </a:cubicBezTo>
                <a:cubicBezTo>
                  <a:pt x="13116" y="12106"/>
                  <a:pt x="13357" y="11521"/>
                  <a:pt x="13357" y="10819"/>
                </a:cubicBezTo>
                <a:cubicBezTo>
                  <a:pt x="13357" y="10118"/>
                  <a:pt x="13096" y="9533"/>
                  <a:pt x="12615" y="9046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grpSp>
        <p:nvGrpSpPr>
          <p:cNvPr id="267" name="그림 9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265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266" name="image3.png" descr="image3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pic>
        <p:nvPicPr>
          <p:cNvPr id="268" name="그림 7" descr="그림 7"/>
          <p:cNvPicPr>
            <a:picLocks noChangeAspect="1"/>
          </p:cNvPicPr>
          <p:nvPr/>
        </p:nvPicPr>
        <p:blipFill>
          <a:blip r:embed="rId3">
            <a:extLst/>
          </a:blip>
          <a:srcRect l="0" t="0" r="260" b="20389"/>
          <a:stretch>
            <a:fillRect/>
          </a:stretch>
        </p:blipFill>
        <p:spPr>
          <a:xfrm>
            <a:off x="6336243" y="1253482"/>
            <a:ext cx="5353187" cy="51827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데이터 예시</a:t>
            </a:r>
          </a:p>
        </p:txBody>
      </p:sp>
      <p:sp>
        <p:nvSpPr>
          <p:cNvPr id="272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02 ｜ 데이터 처리 </a:t>
            </a:r>
          </a:p>
        </p:txBody>
      </p:sp>
      <p:sp>
        <p:nvSpPr>
          <p:cNvPr id="273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74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TextBox 9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8</a:t>
            </a:r>
          </a:p>
        </p:txBody>
      </p:sp>
      <p:grpSp>
        <p:nvGrpSpPr>
          <p:cNvPr id="278" name="그림 10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276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277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pic>
        <p:nvPicPr>
          <p:cNvPr id="279" name="그림 1" descr="그림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1367" y="1812219"/>
            <a:ext cx="11303001" cy="41894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정제</a:t>
            </a:r>
          </a:p>
        </p:txBody>
      </p:sp>
      <p:sp>
        <p:nvSpPr>
          <p:cNvPr id="283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02 ｜ 데이터 처리</a:t>
            </a:r>
          </a:p>
        </p:txBody>
      </p:sp>
      <p:sp>
        <p:nvSpPr>
          <p:cNvPr id="284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5" name="내용을 입력해주세요"/>
          <p:cNvSpPr txBox="1"/>
          <p:nvPr/>
        </p:nvSpPr>
        <p:spPr>
          <a:xfrm>
            <a:off x="861579" y="1355790"/>
            <a:ext cx="4830663" cy="346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내용을 입력해주세요</a:t>
            </a:r>
          </a:p>
        </p:txBody>
      </p:sp>
      <p:grpSp>
        <p:nvGrpSpPr>
          <p:cNvPr id="288" name="사각형: 둥근 모서리 9"/>
          <p:cNvGrpSpPr/>
          <p:nvPr/>
        </p:nvGrpSpPr>
        <p:grpSpPr>
          <a:xfrm>
            <a:off x="5994214" y="1328612"/>
            <a:ext cx="5039650" cy="401329"/>
            <a:chOff x="0" y="0"/>
            <a:chExt cx="5039648" cy="401327"/>
          </a:xfrm>
        </p:grpSpPr>
        <p:sp>
          <p:nvSpPr>
            <p:cNvPr id="286" name="Rounded Rectangle"/>
            <p:cNvSpPr/>
            <p:nvPr/>
          </p:nvSpPr>
          <p:spPr>
            <a:xfrm>
              <a:off x="-1" y="-1"/>
              <a:ext cx="5039650" cy="401328"/>
            </a:xfrm>
            <a:prstGeom prst="roundRect">
              <a:avLst>
                <a:gd name="adj" fmla="val 50000"/>
              </a:avLst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7" name="내용을 입력해주세요"/>
            <p:cNvSpPr txBox="1"/>
            <p:nvPr/>
          </p:nvSpPr>
          <p:spPr>
            <a:xfrm>
              <a:off x="104490" y="27176"/>
              <a:ext cx="4830667" cy="3469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중복 제거</a:t>
              </a:r>
            </a:p>
          </p:txBody>
        </p:sp>
      </p:grpSp>
      <p:sp>
        <p:nvSpPr>
          <p:cNvPr id="289" name="사각형: 둥근 모서리 11"/>
          <p:cNvSpPr/>
          <p:nvPr/>
        </p:nvSpPr>
        <p:spPr>
          <a:xfrm>
            <a:off x="949112" y="1861427"/>
            <a:ext cx="4869492" cy="1100646"/>
          </a:xfrm>
          <a:prstGeom prst="roundRect">
            <a:avLst>
              <a:gd name="adj" fmla="val 9736"/>
            </a:avLst>
          </a:prstGeom>
          <a:ln w="12700">
            <a:solidFill>
              <a:srgbClr val="808080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290" name="Rectangle 37"/>
          <p:cNvSpPr txBox="1"/>
          <p:nvPr/>
        </p:nvSpPr>
        <p:spPr>
          <a:xfrm>
            <a:off x="922973" y="1898098"/>
            <a:ext cx="5023114" cy="998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marL="285750" indent="-285750">
              <a:lnSpc>
                <a:spcPts val="2400"/>
              </a:lnSpc>
              <a:buSzPct val="100000"/>
              <a:buFont typeface="Calibri"/>
              <a:buChar char="-"/>
              <a:defRPr sz="1600">
                <a:solidFill>
                  <a:srgbClr val="0D0D0D"/>
                </a:solidFill>
              </a:defRPr>
            </a:pPr>
            <a:r>
              <a:t>price rating_by_reviews: 중앙값 대치</a:t>
            </a:r>
          </a:p>
          <a:p>
            <a:pPr marL="285750" indent="-285750">
              <a:lnSpc>
                <a:spcPts val="2400"/>
              </a:lnSpc>
              <a:buSzPct val="100000"/>
              <a:buFont typeface="Calibri"/>
              <a:buChar char="-"/>
              <a:defRPr sz="1600">
                <a:solidFill>
                  <a:srgbClr val="0D0D0D"/>
                </a:solidFill>
              </a:defRPr>
            </a:pPr>
            <a:r>
              <a:t>Metacritic(51.1%): 결측 자체를 정보로 보고 NaN 유지            </a:t>
            </a:r>
            <a:r>
              <a:rPr sz="1400">
                <a:solidFill>
                  <a:srgbClr val="535353"/>
                </a:solidFill>
              </a:rPr>
              <a:t>모델링에서는 최종적으로 제외</a:t>
            </a:r>
          </a:p>
        </p:txBody>
      </p:sp>
      <p:sp>
        <p:nvSpPr>
          <p:cNvPr id="291" name="사각형: 둥근 모서리 15"/>
          <p:cNvSpPr/>
          <p:nvPr/>
        </p:nvSpPr>
        <p:spPr>
          <a:xfrm>
            <a:off x="6189016" y="1888163"/>
            <a:ext cx="4755859" cy="1047174"/>
          </a:xfrm>
          <a:prstGeom prst="roundRect">
            <a:avLst>
              <a:gd name="adj" fmla="val 9736"/>
            </a:avLst>
          </a:prstGeom>
          <a:ln w="12700">
            <a:solidFill>
              <a:srgbClr val="808080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292" name="Rectangle 37"/>
          <p:cNvSpPr txBox="1"/>
          <p:nvPr/>
        </p:nvSpPr>
        <p:spPr>
          <a:xfrm>
            <a:off x="6190365" y="2060647"/>
            <a:ext cx="4873478" cy="701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marL="285750" indent="-285750">
              <a:lnSpc>
                <a:spcPts val="2400"/>
              </a:lnSpc>
              <a:buSzPct val="100000"/>
              <a:buFont typeface="Calibri"/>
              <a:buChar char="-"/>
              <a:defRPr sz="1600">
                <a:solidFill>
                  <a:srgbClr val="0D0D0D"/>
                </a:solidFill>
              </a:defRPr>
            </a:pPr>
            <a:r>
              <a:t>완전 중복행 321건, (유저,게임) 중복 319건 제거</a:t>
            </a:r>
          </a:p>
          <a:p>
            <a:pPr marL="285750" indent="-285750">
              <a:lnSpc>
                <a:spcPts val="2400"/>
              </a:lnSpc>
              <a:buSzPct val="100000"/>
              <a:buFont typeface="Calibri"/>
              <a:buChar char="-"/>
              <a:defRPr sz="1600">
                <a:solidFill>
                  <a:srgbClr val="0D0D0D"/>
                </a:solidFill>
              </a:defRPr>
            </a:pPr>
            <a:r>
              <a:t>27,000행을 26,340행으로 정리</a:t>
            </a:r>
          </a:p>
        </p:txBody>
      </p:sp>
      <p:pic>
        <p:nvPicPr>
          <p:cNvPr id="293" name="그림 10" descr="그림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294" name="TextBox 14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9</a:t>
            </a:r>
          </a:p>
        </p:txBody>
      </p:sp>
      <p:grpSp>
        <p:nvGrpSpPr>
          <p:cNvPr id="297" name="그림 18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295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296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298" name="Rounded Rectangle"/>
          <p:cNvSpPr/>
          <p:nvPr/>
        </p:nvSpPr>
        <p:spPr>
          <a:xfrm>
            <a:off x="852721" y="1327277"/>
            <a:ext cx="5039646" cy="401325"/>
          </a:xfrm>
          <a:prstGeom prst="roundRect">
            <a:avLst>
              <a:gd name="adj" fmla="val 50000"/>
            </a:avLst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내용을 입력해주세요"/>
          <p:cNvSpPr txBox="1"/>
          <p:nvPr/>
        </p:nvSpPr>
        <p:spPr>
          <a:xfrm>
            <a:off x="943841" y="1354451"/>
            <a:ext cx="4830665" cy="346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결측치 처리</a:t>
            </a:r>
          </a:p>
        </p:txBody>
      </p:sp>
      <p:pic>
        <p:nvPicPr>
          <p:cNvPr id="300" name="그림 8" descr="그림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28269" y="3086267"/>
            <a:ext cx="4887830" cy="33524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그림 9" descr="그림 9"/>
          <p:cNvPicPr>
            <a:picLocks noChangeAspect="1"/>
          </p:cNvPicPr>
          <p:nvPr/>
        </p:nvPicPr>
        <p:blipFill>
          <a:blip r:embed="rId5">
            <a:extLst/>
          </a:blip>
          <a:srcRect l="0" t="45" r="2110" b="154"/>
          <a:stretch>
            <a:fillRect/>
          </a:stretch>
        </p:blipFill>
        <p:spPr>
          <a:xfrm>
            <a:off x="6189078" y="3078078"/>
            <a:ext cx="4746913" cy="33785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전처리</a:t>
            </a:r>
          </a:p>
        </p:txBody>
      </p:sp>
      <p:sp>
        <p:nvSpPr>
          <p:cNvPr id="305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02 ｜ 데이터 처리 </a:t>
            </a:r>
          </a:p>
        </p:txBody>
      </p:sp>
      <p:sp>
        <p:nvSpPr>
          <p:cNvPr id="306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309" name="Text Placeholder 11"/>
          <p:cNvGrpSpPr/>
          <p:nvPr/>
        </p:nvGrpSpPr>
        <p:grpSpPr>
          <a:xfrm>
            <a:off x="6142749" y="1735663"/>
            <a:ext cx="4758718" cy="438403"/>
            <a:chOff x="-1" y="0"/>
            <a:chExt cx="4758716" cy="438402"/>
          </a:xfrm>
        </p:grpSpPr>
        <p:sp>
          <p:nvSpPr>
            <p:cNvPr id="307" name="Rectangle"/>
            <p:cNvSpPr/>
            <p:nvPr/>
          </p:nvSpPr>
          <p:spPr>
            <a:xfrm>
              <a:off x="-2" y="3758"/>
              <a:ext cx="4758718" cy="430893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1000"/>
                </a:spcBef>
                <a:defRPr b="1"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</a:p>
          </p:txBody>
        </p:sp>
        <p:sp>
          <p:nvSpPr>
            <p:cNvPr id="308" name="WEAKENESS"/>
            <p:cNvSpPr txBox="1"/>
            <p:nvPr/>
          </p:nvSpPr>
          <p:spPr>
            <a:xfrm>
              <a:off x="-2" y="-1"/>
              <a:ext cx="4758718" cy="4384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6" tIns="91436" rIns="91436" bIns="91436" numCol="1" anchor="ctr">
              <a:spAutoFit/>
            </a:bodyPr>
            <a:lstStyle>
              <a:lvl1pPr algn="ctr">
                <a:spcBef>
                  <a:spcPts val="1000"/>
                </a:spcBef>
                <a:defRPr b="1" sz="16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핵심 태그 선별</a:t>
              </a:r>
            </a:p>
          </p:txBody>
        </p:sp>
      </p:grpSp>
      <p:grpSp>
        <p:nvGrpSpPr>
          <p:cNvPr id="312" name="Text Placeholder 15"/>
          <p:cNvGrpSpPr/>
          <p:nvPr/>
        </p:nvGrpSpPr>
        <p:grpSpPr>
          <a:xfrm>
            <a:off x="864284" y="1735663"/>
            <a:ext cx="4758714" cy="438403"/>
            <a:chOff x="-1" y="0"/>
            <a:chExt cx="4758713" cy="438402"/>
          </a:xfrm>
        </p:grpSpPr>
        <p:sp>
          <p:nvSpPr>
            <p:cNvPr id="310" name="Rectangle"/>
            <p:cNvSpPr/>
            <p:nvPr/>
          </p:nvSpPr>
          <p:spPr>
            <a:xfrm>
              <a:off x="-2" y="3758"/>
              <a:ext cx="4758714" cy="430893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1000"/>
                </a:spcBef>
                <a:defRPr b="1"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</a:p>
          </p:txBody>
        </p:sp>
        <p:sp>
          <p:nvSpPr>
            <p:cNvPr id="311" name="STRENGTHS"/>
            <p:cNvSpPr txBox="1"/>
            <p:nvPr/>
          </p:nvSpPr>
          <p:spPr>
            <a:xfrm>
              <a:off x="-2" y="-1"/>
              <a:ext cx="4758714" cy="4384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6" tIns="91436" rIns="91436" bIns="91436" numCol="1" anchor="ctr">
              <a:spAutoFit/>
            </a:bodyPr>
            <a:lstStyle>
              <a:lvl1pPr algn="ctr">
                <a:spcBef>
                  <a:spcPts val="1000"/>
                </a:spcBef>
                <a:defRPr b="1" sz="16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핵심 장르 선별</a:t>
              </a:r>
            </a:p>
          </p:txBody>
        </p:sp>
      </p:grpSp>
      <p:grpSp>
        <p:nvGrpSpPr>
          <p:cNvPr id="315" name="Text Placeholder 19"/>
          <p:cNvGrpSpPr/>
          <p:nvPr/>
        </p:nvGrpSpPr>
        <p:grpSpPr>
          <a:xfrm>
            <a:off x="864487" y="2181014"/>
            <a:ext cx="4758515" cy="1383448"/>
            <a:chOff x="0" y="0"/>
            <a:chExt cx="4758513" cy="1383446"/>
          </a:xfrm>
        </p:grpSpPr>
        <p:sp>
          <p:nvSpPr>
            <p:cNvPr id="313" name="Shape"/>
            <p:cNvSpPr/>
            <p:nvPr/>
          </p:nvSpPr>
          <p:spPr>
            <a:xfrm>
              <a:off x="-1" y="-1"/>
              <a:ext cx="4758515" cy="13834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0" dist="38100" dir="5400000">
                <a:srgbClr val="C9C9C9"/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314" name="강점에 대해서 핵심만 설명해주세요.…"/>
            <p:cNvSpPr txBox="1"/>
            <p:nvPr/>
          </p:nvSpPr>
          <p:spPr>
            <a:xfrm>
              <a:off x="75618" y="375524"/>
              <a:ext cx="4607274" cy="6024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원본 25종 중 빈도 3% 이상인 12개 게임 장르만 채택</a:t>
              </a:r>
              <a:endParaRPr sz="1400"/>
            </a:p>
            <a:p>
              <a:pPr marL="171450" indent="-171450">
                <a:buSzPct val="100000"/>
                <a:buFont typeface="Arial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비-게임 카테고리(Utilies, Education) 13개 제외</a:t>
              </a:r>
            </a:p>
          </p:txBody>
        </p:sp>
      </p:grpSp>
      <p:grpSp>
        <p:nvGrpSpPr>
          <p:cNvPr id="318" name="Text Placeholder 19"/>
          <p:cNvGrpSpPr/>
          <p:nvPr/>
        </p:nvGrpSpPr>
        <p:grpSpPr>
          <a:xfrm>
            <a:off x="6142752" y="2181014"/>
            <a:ext cx="4758514" cy="1383448"/>
            <a:chOff x="0" y="0"/>
            <a:chExt cx="4758513" cy="1383446"/>
          </a:xfrm>
        </p:grpSpPr>
        <p:sp>
          <p:nvSpPr>
            <p:cNvPr id="316" name="Shape"/>
            <p:cNvSpPr/>
            <p:nvPr/>
          </p:nvSpPr>
          <p:spPr>
            <a:xfrm>
              <a:off x="0" y="-1"/>
              <a:ext cx="4758514" cy="13834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0" dist="38100" dir="5400000">
                <a:srgbClr val="C9C9C9"/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317" name="약점에 대해서 핵심만 설명해주세요.…"/>
            <p:cNvSpPr txBox="1"/>
            <p:nvPr/>
          </p:nvSpPr>
          <p:spPr>
            <a:xfrm>
              <a:off x="75619" y="247760"/>
              <a:ext cx="4607275" cy="8580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장르 중복(12개) 플레이모드 태그(9개) 제거</a:t>
              </a:r>
              <a:endParaRPr sz="1400"/>
            </a:p>
            <a:p>
              <a:pPr marL="171450" indent="-171450">
                <a:buSzPct val="100000"/>
                <a:buFont typeface="Arial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빈도 기준 Top 30 / Top 50 두 버전 생성 </a:t>
              </a:r>
              <a:endParaRPr sz="1400"/>
            </a:p>
            <a:p>
              <a:pPr lvl="1" indent="171450"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(30위 10.3%, 50위 7.0%)</a:t>
              </a:r>
            </a:p>
          </p:txBody>
        </p:sp>
      </p:grpSp>
      <p:grpSp>
        <p:nvGrpSpPr>
          <p:cNvPr id="321" name="Text Placeholder 11"/>
          <p:cNvGrpSpPr/>
          <p:nvPr/>
        </p:nvGrpSpPr>
        <p:grpSpPr>
          <a:xfrm>
            <a:off x="6142749" y="4095514"/>
            <a:ext cx="4758718" cy="430895"/>
            <a:chOff x="-1" y="0"/>
            <a:chExt cx="4758716" cy="430893"/>
          </a:xfrm>
        </p:grpSpPr>
        <p:sp>
          <p:nvSpPr>
            <p:cNvPr id="319" name="Rectangle"/>
            <p:cNvSpPr/>
            <p:nvPr/>
          </p:nvSpPr>
          <p:spPr>
            <a:xfrm>
              <a:off x="-2" y="-1"/>
              <a:ext cx="4758718" cy="430895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1000"/>
                </a:spcBef>
                <a:defRPr b="1"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</a:p>
          </p:txBody>
        </p:sp>
        <p:sp>
          <p:nvSpPr>
            <p:cNvPr id="320" name="THREATS"/>
            <p:cNvSpPr txBox="1"/>
            <p:nvPr/>
          </p:nvSpPr>
          <p:spPr>
            <a:xfrm>
              <a:off x="-2" y="3355"/>
              <a:ext cx="4758718" cy="4241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6" tIns="91436" rIns="91436" bIns="91436" numCol="1" anchor="ctr">
              <a:spAutoFit/>
            </a:bodyPr>
            <a:lstStyle>
              <a:lvl1pPr algn="ctr">
                <a:spcBef>
                  <a:spcPts val="1000"/>
                </a:spcBef>
                <a:defRPr b="1" sz="16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정규화</a:t>
              </a:r>
            </a:p>
          </p:txBody>
        </p:sp>
      </p:grpSp>
      <p:grpSp>
        <p:nvGrpSpPr>
          <p:cNvPr id="324" name="Text Placeholder 15"/>
          <p:cNvGrpSpPr/>
          <p:nvPr/>
        </p:nvGrpSpPr>
        <p:grpSpPr>
          <a:xfrm>
            <a:off x="864284" y="4091758"/>
            <a:ext cx="4758714" cy="438403"/>
            <a:chOff x="-1" y="-1"/>
            <a:chExt cx="4758713" cy="438402"/>
          </a:xfrm>
        </p:grpSpPr>
        <p:sp>
          <p:nvSpPr>
            <p:cNvPr id="322" name="Rectangle"/>
            <p:cNvSpPr/>
            <p:nvPr/>
          </p:nvSpPr>
          <p:spPr>
            <a:xfrm>
              <a:off x="-2" y="3758"/>
              <a:ext cx="4758714" cy="430893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1000"/>
                </a:spcBef>
                <a:defRPr b="1"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</a:p>
          </p:txBody>
        </p:sp>
        <p:sp>
          <p:nvSpPr>
            <p:cNvPr id="323" name="OPPORTUNITIES"/>
            <p:cNvSpPr txBox="1"/>
            <p:nvPr/>
          </p:nvSpPr>
          <p:spPr>
            <a:xfrm>
              <a:off x="-2" y="-1"/>
              <a:ext cx="4758714" cy="4384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6" tIns="91436" rIns="91436" bIns="91436" numCol="1" anchor="ctr">
              <a:spAutoFit/>
            </a:bodyPr>
            <a:lstStyle>
              <a:lvl1pPr algn="ctr">
                <a:spcBef>
                  <a:spcPts val="1000"/>
                </a:spcBef>
                <a:defRPr b="1" sz="16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유저 선호도 벡터 생성</a:t>
              </a:r>
            </a:p>
          </p:txBody>
        </p:sp>
      </p:grpSp>
      <p:grpSp>
        <p:nvGrpSpPr>
          <p:cNvPr id="327" name="Text Placeholder 19"/>
          <p:cNvGrpSpPr/>
          <p:nvPr/>
        </p:nvGrpSpPr>
        <p:grpSpPr>
          <a:xfrm>
            <a:off x="864487" y="4444264"/>
            <a:ext cx="4758515" cy="1539237"/>
            <a:chOff x="0" y="-1"/>
            <a:chExt cx="4758513" cy="1539235"/>
          </a:xfrm>
        </p:grpSpPr>
        <p:sp>
          <p:nvSpPr>
            <p:cNvPr id="325" name="Shape"/>
            <p:cNvSpPr/>
            <p:nvPr/>
          </p:nvSpPr>
          <p:spPr>
            <a:xfrm>
              <a:off x="-1" y="92845"/>
              <a:ext cx="4758515" cy="13834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0" dist="38100" dir="5400000">
                <a:srgbClr val="C9C9C9"/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326" name="기회에 대해서 핵심만 설명해주세요.…"/>
            <p:cNvSpPr txBox="1"/>
            <p:nvPr/>
          </p:nvSpPr>
          <p:spPr>
            <a:xfrm>
              <a:off x="75618" y="-2"/>
              <a:ext cx="4607274" cy="1539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  <a:p>
              <a:pPr marL="171450" indent="-171450">
                <a:buSzPct val="100000"/>
                <a:buFont typeface="Arial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  <a:p>
              <a:pPr marL="171450" indent="-171450">
                <a:buSzPct val="100000"/>
                <a:buFont typeface="Arial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  <a:p>
              <a:pPr marL="171450" indent="-171450">
                <a:buSzPct val="100000"/>
                <a:buFont typeface="Arial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  <a:p>
              <a:pPr marL="171450" indent="-171450">
                <a:buSzPct val="100000"/>
                <a:buFont typeface="Arial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User_genre_pref(878,12), user_tag_pref30/50 생성</a:t>
              </a:r>
            </a:p>
          </p:txBody>
        </p:sp>
      </p:grpSp>
      <p:grpSp>
        <p:nvGrpSpPr>
          <p:cNvPr id="330" name="Text Placeholder 19"/>
          <p:cNvGrpSpPr/>
          <p:nvPr/>
        </p:nvGrpSpPr>
        <p:grpSpPr>
          <a:xfrm>
            <a:off x="6142752" y="4537112"/>
            <a:ext cx="4758514" cy="1383447"/>
            <a:chOff x="0" y="0"/>
            <a:chExt cx="4758513" cy="1383445"/>
          </a:xfrm>
        </p:grpSpPr>
        <p:sp>
          <p:nvSpPr>
            <p:cNvPr id="328" name="Shape"/>
            <p:cNvSpPr/>
            <p:nvPr/>
          </p:nvSpPr>
          <p:spPr>
            <a:xfrm>
              <a:off x="0" y="-1"/>
              <a:ext cx="4758514" cy="13834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0" dist="38100" dir="5400000">
                <a:srgbClr val="C9C9C9"/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329" name="위협에 대해서 핵심만 설명해주세요.…"/>
            <p:cNvSpPr txBox="1"/>
            <p:nvPr/>
          </p:nvSpPr>
          <p:spPr>
            <a:xfrm>
              <a:off x="75619" y="180577"/>
              <a:ext cx="4607275" cy="9923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유저마다 플레이타임 스케일이 달라 행(유저) 기준 합=1 정규화</a:t>
              </a:r>
            </a:p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코사인 유사도 등으로 게임 벡터와 직접 비교 가능하게 함</a:t>
              </a:r>
            </a:p>
            <a:p>
              <a:pPr marL="171450" indent="-171450">
                <a:buSzPct val="100000"/>
                <a:buFont typeface="Arial"/>
                <a:buChar char="•"/>
                <a:defRPr sz="14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Content 모델에 사용</a:t>
              </a:r>
            </a:p>
          </p:txBody>
        </p:sp>
      </p:grpSp>
      <p:pic>
        <p:nvPicPr>
          <p:cNvPr id="331" name="그림 20" descr="그림 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332" name="TextBox 21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10</a:t>
            </a:r>
          </a:p>
        </p:txBody>
      </p:sp>
      <p:grpSp>
        <p:nvGrpSpPr>
          <p:cNvPr id="335" name="그림 22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333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334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pic>
        <p:nvPicPr>
          <p:cNvPr id="336" name="그림 1" descr="그림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1570" y="4645026"/>
            <a:ext cx="4606758" cy="6894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전처리</a:t>
            </a:r>
          </a:p>
        </p:txBody>
      </p:sp>
      <p:sp>
        <p:nvSpPr>
          <p:cNvPr id="340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02 ｜ 데이터 처리 </a:t>
            </a:r>
          </a:p>
        </p:txBody>
      </p:sp>
      <p:sp>
        <p:nvSpPr>
          <p:cNvPr id="341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2" name="WEAKENESS"/>
          <p:cNvSpPr txBox="1"/>
          <p:nvPr/>
        </p:nvSpPr>
        <p:spPr>
          <a:xfrm>
            <a:off x="6142752" y="1735663"/>
            <a:ext cx="4758713" cy="438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>
            <a:spAutoFit/>
          </a:bodyPr>
          <a:lstStyle>
            <a:lvl1pPr algn="ctr">
              <a:spcBef>
                <a:spcPts val="1000"/>
              </a:spcBef>
              <a:defRPr b="1" sz="1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핵심 태그 선별</a:t>
            </a:r>
          </a:p>
        </p:txBody>
      </p:sp>
      <p:grpSp>
        <p:nvGrpSpPr>
          <p:cNvPr id="345" name="Text Placeholder 15"/>
          <p:cNvGrpSpPr/>
          <p:nvPr/>
        </p:nvGrpSpPr>
        <p:grpSpPr>
          <a:xfrm>
            <a:off x="636913" y="2694307"/>
            <a:ext cx="4758714" cy="438403"/>
            <a:chOff x="-1" y="-1"/>
            <a:chExt cx="4758713" cy="438402"/>
          </a:xfrm>
        </p:grpSpPr>
        <p:sp>
          <p:nvSpPr>
            <p:cNvPr id="343" name="Rectangle"/>
            <p:cNvSpPr/>
            <p:nvPr/>
          </p:nvSpPr>
          <p:spPr>
            <a:xfrm>
              <a:off x="-2" y="3758"/>
              <a:ext cx="4758714" cy="430894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1000"/>
                </a:spcBef>
                <a:defRPr b="1"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</a:p>
          </p:txBody>
        </p:sp>
        <p:sp>
          <p:nvSpPr>
            <p:cNvPr id="344" name="STRENGTHS"/>
            <p:cNvSpPr txBox="1"/>
            <p:nvPr/>
          </p:nvSpPr>
          <p:spPr>
            <a:xfrm>
              <a:off x="-2" y="-1"/>
              <a:ext cx="4758714" cy="4384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6" tIns="91436" rIns="91436" bIns="91436" numCol="1" anchor="ctr">
              <a:spAutoFit/>
            </a:bodyPr>
            <a:lstStyle>
              <a:lvl1pPr algn="ctr">
                <a:spcBef>
                  <a:spcPts val="1000"/>
                </a:spcBef>
                <a:defRPr b="1" sz="16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핵심 장르 선별</a:t>
              </a:r>
            </a:p>
          </p:txBody>
        </p:sp>
      </p:grpSp>
      <p:grpSp>
        <p:nvGrpSpPr>
          <p:cNvPr id="348" name="Text Placeholder 19"/>
          <p:cNvGrpSpPr/>
          <p:nvPr/>
        </p:nvGrpSpPr>
        <p:grpSpPr>
          <a:xfrm>
            <a:off x="637116" y="3139660"/>
            <a:ext cx="4758515" cy="1383448"/>
            <a:chOff x="0" y="-1"/>
            <a:chExt cx="4758513" cy="1383447"/>
          </a:xfrm>
        </p:grpSpPr>
        <p:sp>
          <p:nvSpPr>
            <p:cNvPr id="346" name="Shape"/>
            <p:cNvSpPr/>
            <p:nvPr/>
          </p:nvSpPr>
          <p:spPr>
            <a:xfrm>
              <a:off x="-1" y="-2"/>
              <a:ext cx="4758515" cy="1383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0" dist="38100" dir="5400000">
                <a:srgbClr val="C9C9C9"/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347" name="강점에 대해서 핵심만 설명해주세요.…"/>
            <p:cNvSpPr txBox="1"/>
            <p:nvPr/>
          </p:nvSpPr>
          <p:spPr>
            <a:xfrm>
              <a:off x="75618" y="375523"/>
              <a:ext cx="4607274" cy="6024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marL="171450" indent="-171450">
                <a:buSzPct val="100000"/>
                <a:buFont typeface="Arial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원본 25종 중 빈도 3% 이상인 12개 게임 장르만 채택</a:t>
              </a:r>
              <a:endParaRPr sz="1400"/>
            </a:p>
            <a:p>
              <a:pPr marL="171450" indent="-171450">
                <a:buSzPct val="100000"/>
                <a:buFont typeface="Arial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비-게임 카테고리(Utilies, Education) 13개 제외</a:t>
              </a:r>
            </a:p>
          </p:txBody>
        </p:sp>
      </p:grpSp>
      <p:pic>
        <p:nvPicPr>
          <p:cNvPr id="349" name="그림 20" descr="그림 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extBox 21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11</a:t>
            </a:r>
          </a:p>
        </p:txBody>
      </p:sp>
      <p:grpSp>
        <p:nvGrpSpPr>
          <p:cNvPr id="353" name="그림 22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351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352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pic>
        <p:nvPicPr>
          <p:cNvPr id="354" name="그림 2" descr="그림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79498" y="1742151"/>
            <a:ext cx="6158071" cy="39083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Text Placeholder 19"/>
          <p:cNvGrpSpPr/>
          <p:nvPr/>
        </p:nvGrpSpPr>
        <p:grpSpPr>
          <a:xfrm>
            <a:off x="3716743" y="1490577"/>
            <a:ext cx="4758514" cy="1383446"/>
            <a:chOff x="0" y="0"/>
            <a:chExt cx="4758513" cy="1383445"/>
          </a:xfrm>
        </p:grpSpPr>
        <p:sp>
          <p:nvSpPr>
            <p:cNvPr id="356" name="Shape"/>
            <p:cNvSpPr/>
            <p:nvPr/>
          </p:nvSpPr>
          <p:spPr>
            <a:xfrm>
              <a:off x="0" y="-1"/>
              <a:ext cx="4758514" cy="13834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006"/>
                  </a:lnTo>
                  <a:cubicBezTo>
                    <a:pt x="21600" y="20886"/>
                    <a:pt x="21393" y="21600"/>
                    <a:pt x="21137" y="21600"/>
                  </a:cubicBezTo>
                  <a:lnTo>
                    <a:pt x="463" y="21600"/>
                  </a:lnTo>
                  <a:cubicBezTo>
                    <a:pt x="207" y="21600"/>
                    <a:pt x="0" y="20886"/>
                    <a:pt x="0" y="200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0" dist="38100" dir="5400000">
                <a:srgbClr val="C9C9C9"/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357" name="강점에 대해서 핵심만 설명해주세요.…"/>
            <p:cNvSpPr txBox="1"/>
            <p:nvPr/>
          </p:nvSpPr>
          <p:spPr>
            <a:xfrm>
              <a:off x="75619" y="120465"/>
              <a:ext cx="4607275" cy="11126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buSzPct val="100000"/>
                <a:buFont typeface="Helvetica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  <a:p>
              <a:pPr marL="171450" indent="-171450">
                <a:buSzPct val="100000"/>
                <a:buFont typeface="Helvetica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장르 중복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(12</a:t>
              </a:r>
              <a:r>
                <a:t>개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) </a:t>
              </a:r>
              <a:r>
                <a:t>플레이모드 태그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(9</a:t>
              </a:r>
              <a:r>
                <a:t>개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) </a:t>
              </a:r>
              <a:r>
                <a:t>제거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marL="171450" indent="-171450">
                <a:buSzPct val="100000"/>
                <a:buFont typeface="Helvetica"/>
                <a:buChar char="•"/>
                <a:defRPr sz="16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t>빈도 기준 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Top 30 / Top 50 </a:t>
              </a:r>
              <a:r>
                <a:t>두 버전 생성 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lvl="1" marL="171450" indent="-285750">
                <a:buSzPct val="100000"/>
                <a:buFont typeface="Arial"/>
                <a:buChar char="•"/>
                <a:defRPr sz="1600"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(30위 10.3%, 50위 7.0%)</a:t>
              </a:r>
            </a:p>
          </p:txBody>
        </p:sp>
      </p:grpSp>
      <p:sp>
        <p:nvSpPr>
          <p:cNvPr id="359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전처리</a:t>
            </a:r>
          </a:p>
        </p:txBody>
      </p:sp>
      <p:sp>
        <p:nvSpPr>
          <p:cNvPr id="361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02 ｜ 데이터 처리 </a:t>
            </a:r>
          </a:p>
        </p:txBody>
      </p:sp>
      <p:sp>
        <p:nvSpPr>
          <p:cNvPr id="362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365" name="Text Placeholder 15"/>
          <p:cNvGrpSpPr/>
          <p:nvPr/>
        </p:nvGrpSpPr>
        <p:grpSpPr>
          <a:xfrm>
            <a:off x="3727929" y="1225613"/>
            <a:ext cx="4758718" cy="438403"/>
            <a:chOff x="-1" y="-1"/>
            <a:chExt cx="4758716" cy="438402"/>
          </a:xfrm>
        </p:grpSpPr>
        <p:sp>
          <p:nvSpPr>
            <p:cNvPr id="363" name="Rectangle"/>
            <p:cNvSpPr/>
            <p:nvPr/>
          </p:nvSpPr>
          <p:spPr>
            <a:xfrm>
              <a:off x="-2" y="3758"/>
              <a:ext cx="4758718" cy="430894"/>
            </a:xfrm>
            <a:prstGeom prst="rect">
              <a:avLst/>
            </a:prstGeom>
            <a:solidFill>
              <a:srgbClr val="151F9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spcBef>
                  <a:spcPts val="1000"/>
                </a:spcBef>
                <a:defRPr b="1" sz="1600"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</a:p>
          </p:txBody>
        </p:sp>
        <p:sp>
          <p:nvSpPr>
            <p:cNvPr id="364" name="STRENGTHS"/>
            <p:cNvSpPr txBox="1"/>
            <p:nvPr/>
          </p:nvSpPr>
          <p:spPr>
            <a:xfrm>
              <a:off x="-2" y="-1"/>
              <a:ext cx="4758718" cy="4384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6" tIns="91436" rIns="91436" bIns="91436" numCol="1" anchor="ctr">
              <a:spAutoFit/>
            </a:bodyPr>
            <a:lstStyle>
              <a:lvl1pPr algn="ctr">
                <a:spcBef>
                  <a:spcPts val="1000"/>
                </a:spcBef>
                <a:defRPr b="1" sz="160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핵심 태그 선별</a:t>
              </a:r>
            </a:p>
          </p:txBody>
        </p:sp>
      </p:grpSp>
      <p:pic>
        <p:nvPicPr>
          <p:cNvPr id="366" name="그림 20" descr="그림 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367" name="TextBox 21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12</a:t>
            </a:r>
          </a:p>
        </p:txBody>
      </p:sp>
      <p:grpSp>
        <p:nvGrpSpPr>
          <p:cNvPr id="370" name="그림 22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368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369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pic>
        <p:nvPicPr>
          <p:cNvPr id="371" name="그림 1" descr="그림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5977" y="2951003"/>
            <a:ext cx="10114937" cy="36946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전처리</a:t>
            </a:r>
          </a:p>
        </p:txBody>
      </p:sp>
      <p:sp>
        <p:nvSpPr>
          <p:cNvPr id="375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02 ｜ 데이터 처리</a:t>
            </a:r>
          </a:p>
        </p:txBody>
      </p:sp>
      <p:sp>
        <p:nvSpPr>
          <p:cNvPr id="376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77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378" name="TextBox 9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13</a:t>
            </a:r>
          </a:p>
        </p:txBody>
      </p:sp>
      <p:grpSp>
        <p:nvGrpSpPr>
          <p:cNvPr id="381" name="그림 10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379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380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pic>
        <p:nvPicPr>
          <p:cNvPr id="382" name="그림 1" descr="그림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08422" y="1723445"/>
            <a:ext cx="5199572" cy="3536815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TextBox 36"/>
          <p:cNvSpPr txBox="1"/>
          <p:nvPr/>
        </p:nvSpPr>
        <p:spPr>
          <a:xfrm>
            <a:off x="963533" y="1399357"/>
            <a:ext cx="4170122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user_genre_preference_normalized_clean</a:t>
            </a:r>
          </a:p>
        </p:txBody>
      </p:sp>
      <p:sp>
        <p:nvSpPr>
          <p:cNvPr id="384" name="TextBox 36"/>
          <p:cNvSpPr txBox="1"/>
          <p:nvPr/>
        </p:nvSpPr>
        <p:spPr>
          <a:xfrm>
            <a:off x="8271715" y="1406041"/>
            <a:ext cx="1956254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game_features_full</a:t>
            </a:r>
          </a:p>
        </p:txBody>
      </p:sp>
      <p:pic>
        <p:nvPicPr>
          <p:cNvPr id="385" name="그림 3" descr="그림 3"/>
          <p:cNvPicPr>
            <a:picLocks noChangeAspect="1"/>
          </p:cNvPicPr>
          <p:nvPr/>
        </p:nvPicPr>
        <p:blipFill>
          <a:blip r:embed="rId5">
            <a:extLst/>
          </a:blip>
          <a:srcRect l="512" t="0" r="21980" b="188"/>
          <a:stretch>
            <a:fillRect/>
          </a:stretch>
        </p:blipFill>
        <p:spPr>
          <a:xfrm>
            <a:off x="448918" y="1743854"/>
            <a:ext cx="6035437" cy="35245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전처리</a:t>
            </a:r>
          </a:p>
        </p:txBody>
      </p:sp>
      <p:sp>
        <p:nvSpPr>
          <p:cNvPr id="389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02 ｜ 데이터 처리</a:t>
            </a:r>
          </a:p>
        </p:txBody>
      </p:sp>
      <p:sp>
        <p:nvSpPr>
          <p:cNvPr id="390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91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392" name="TextBox 9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14</a:t>
            </a:r>
          </a:p>
        </p:txBody>
      </p:sp>
      <p:grpSp>
        <p:nvGrpSpPr>
          <p:cNvPr id="395" name="그림 10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393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394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396" name="TextBox 36"/>
          <p:cNvSpPr txBox="1"/>
          <p:nvPr/>
        </p:nvSpPr>
        <p:spPr>
          <a:xfrm>
            <a:off x="5020879" y="1285725"/>
            <a:ext cx="2148440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cleaned_played_data</a:t>
            </a:r>
          </a:p>
        </p:txBody>
      </p:sp>
      <p:pic>
        <p:nvPicPr>
          <p:cNvPr id="397" name="그림 3" descr="그림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55840" y="1556336"/>
            <a:ext cx="10280317" cy="51022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TextBox 5"/>
          <p:cNvSpPr txBox="1"/>
          <p:nvPr/>
        </p:nvSpPr>
        <p:spPr>
          <a:xfrm>
            <a:off x="523355" y="615795"/>
            <a:ext cx="6179048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401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03 ｜ 모델링</a:t>
            </a:r>
          </a:p>
        </p:txBody>
      </p:sp>
      <p:sp>
        <p:nvSpPr>
          <p:cNvPr id="402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타원 1"/>
          <p:cNvSpPr/>
          <p:nvPr/>
        </p:nvSpPr>
        <p:spPr>
          <a:xfrm>
            <a:off x="1218712" y="2760442"/>
            <a:ext cx="1714113" cy="17141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404" name="타원 4"/>
          <p:cNvSpPr/>
          <p:nvPr/>
        </p:nvSpPr>
        <p:spPr>
          <a:xfrm>
            <a:off x="3903988" y="2760442"/>
            <a:ext cx="1714113" cy="17141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405" name="타원 9"/>
          <p:cNvSpPr/>
          <p:nvPr/>
        </p:nvSpPr>
        <p:spPr>
          <a:xfrm>
            <a:off x="6599628" y="2747074"/>
            <a:ext cx="1714115" cy="1714112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406" name="타원 10"/>
          <p:cNvSpPr/>
          <p:nvPr/>
        </p:nvSpPr>
        <p:spPr>
          <a:xfrm>
            <a:off x="9267859" y="2760442"/>
            <a:ext cx="1714113" cy="171411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407" name="Oval 48"/>
          <p:cNvSpPr/>
          <p:nvPr/>
        </p:nvSpPr>
        <p:spPr>
          <a:xfrm rot="16200000">
            <a:off x="3244980" y="3482334"/>
            <a:ext cx="268193" cy="27032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</a:p>
        </p:txBody>
      </p:sp>
      <p:sp>
        <p:nvSpPr>
          <p:cNvPr id="408" name="Freeform 49"/>
          <p:cNvSpPr/>
          <p:nvPr/>
        </p:nvSpPr>
        <p:spPr>
          <a:xfrm rot="16200000">
            <a:off x="3297077" y="3569232"/>
            <a:ext cx="173536" cy="98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/>
            </a:pPr>
          </a:p>
        </p:txBody>
      </p:sp>
      <p:sp>
        <p:nvSpPr>
          <p:cNvPr id="409" name="Oval 48"/>
          <p:cNvSpPr/>
          <p:nvPr/>
        </p:nvSpPr>
        <p:spPr>
          <a:xfrm rot="16200000">
            <a:off x="5916302" y="3482332"/>
            <a:ext cx="268193" cy="27032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</a:p>
        </p:txBody>
      </p:sp>
      <p:sp>
        <p:nvSpPr>
          <p:cNvPr id="410" name="Freeform 49"/>
          <p:cNvSpPr/>
          <p:nvPr/>
        </p:nvSpPr>
        <p:spPr>
          <a:xfrm rot="16200000">
            <a:off x="5968398" y="3569232"/>
            <a:ext cx="173536" cy="98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/>
            </a:pPr>
          </a:p>
        </p:txBody>
      </p:sp>
      <p:sp>
        <p:nvSpPr>
          <p:cNvPr id="411" name="Oval 48"/>
          <p:cNvSpPr/>
          <p:nvPr/>
        </p:nvSpPr>
        <p:spPr>
          <a:xfrm rot="16200000">
            <a:off x="8662227" y="3482332"/>
            <a:ext cx="268193" cy="27032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</a:p>
        </p:txBody>
      </p:sp>
      <p:sp>
        <p:nvSpPr>
          <p:cNvPr id="412" name="Freeform 49"/>
          <p:cNvSpPr/>
          <p:nvPr/>
        </p:nvSpPr>
        <p:spPr>
          <a:xfrm rot="16200000">
            <a:off x="8714323" y="3569232"/>
            <a:ext cx="173536" cy="98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/>
            </a:pPr>
          </a:p>
        </p:txBody>
      </p:sp>
      <p:sp>
        <p:nvSpPr>
          <p:cNvPr id="413" name="TextBox 20"/>
          <p:cNvSpPr txBox="1"/>
          <p:nvPr/>
        </p:nvSpPr>
        <p:spPr>
          <a:xfrm>
            <a:off x="4000910" y="3238363"/>
            <a:ext cx="1524422" cy="76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02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데이터 처리</a:t>
            </a:r>
          </a:p>
        </p:txBody>
      </p:sp>
      <p:sp>
        <p:nvSpPr>
          <p:cNvPr id="414" name="TextBox 21"/>
          <p:cNvSpPr txBox="1"/>
          <p:nvPr/>
        </p:nvSpPr>
        <p:spPr>
          <a:xfrm>
            <a:off x="886576" y="4661248"/>
            <a:ext cx="2383460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주제 선정 이유 및 문제의식</a:t>
            </a:r>
          </a:p>
        </p:txBody>
      </p:sp>
      <p:sp>
        <p:nvSpPr>
          <p:cNvPr id="415" name="TextBox 22"/>
          <p:cNvSpPr txBox="1"/>
          <p:nvPr/>
        </p:nvSpPr>
        <p:spPr>
          <a:xfrm>
            <a:off x="3566352" y="4661248"/>
            <a:ext cx="2383459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데이터 수집 정제 전처리</a:t>
            </a:r>
          </a:p>
        </p:txBody>
      </p:sp>
      <p:sp>
        <p:nvSpPr>
          <p:cNvPr id="416" name="TextBox 23"/>
          <p:cNvSpPr txBox="1"/>
          <p:nvPr/>
        </p:nvSpPr>
        <p:spPr>
          <a:xfrm>
            <a:off x="6252812" y="4661248"/>
            <a:ext cx="2383460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모델링 과정 및 평가 방법</a:t>
            </a:r>
          </a:p>
        </p:txBody>
      </p:sp>
      <p:sp>
        <p:nvSpPr>
          <p:cNvPr id="417" name="TextBox 24"/>
          <p:cNvSpPr txBox="1"/>
          <p:nvPr/>
        </p:nvSpPr>
        <p:spPr>
          <a:xfrm>
            <a:off x="8939272" y="4661248"/>
            <a:ext cx="2383460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모델링 결과 및 기대 효과</a:t>
            </a:r>
          </a:p>
        </p:txBody>
      </p:sp>
      <p:sp>
        <p:nvSpPr>
          <p:cNvPr id="418" name="TextBox 25"/>
          <p:cNvSpPr txBox="1"/>
          <p:nvPr/>
        </p:nvSpPr>
        <p:spPr>
          <a:xfrm>
            <a:off x="1313557" y="3228338"/>
            <a:ext cx="1524424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01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개요</a:t>
            </a:r>
          </a:p>
        </p:txBody>
      </p:sp>
      <p:sp>
        <p:nvSpPr>
          <p:cNvPr id="419" name="TextBox 26"/>
          <p:cNvSpPr txBox="1"/>
          <p:nvPr/>
        </p:nvSpPr>
        <p:spPr>
          <a:xfrm>
            <a:off x="6693206" y="3228338"/>
            <a:ext cx="1524422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03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모델링</a:t>
            </a:r>
          </a:p>
        </p:txBody>
      </p:sp>
      <p:sp>
        <p:nvSpPr>
          <p:cNvPr id="420" name="TextBox 27"/>
          <p:cNvSpPr txBox="1"/>
          <p:nvPr/>
        </p:nvSpPr>
        <p:spPr>
          <a:xfrm>
            <a:off x="9362705" y="3228338"/>
            <a:ext cx="1524423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04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결론</a:t>
            </a:r>
          </a:p>
        </p:txBody>
      </p:sp>
      <p:sp>
        <p:nvSpPr>
          <p:cNvPr id="421" name="직선 연결선 28"/>
          <p:cNvSpPr/>
          <p:nvPr/>
        </p:nvSpPr>
        <p:spPr>
          <a:xfrm>
            <a:off x="4051043" y="3616023"/>
            <a:ext cx="1418240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" name="직선 연결선 29"/>
          <p:cNvSpPr/>
          <p:nvPr/>
        </p:nvSpPr>
        <p:spPr>
          <a:xfrm>
            <a:off x="1366649" y="3616021"/>
            <a:ext cx="1418240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" name="직선 연결선 30"/>
          <p:cNvSpPr/>
          <p:nvPr/>
        </p:nvSpPr>
        <p:spPr>
          <a:xfrm>
            <a:off x="6796764" y="3616021"/>
            <a:ext cx="1418241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4" name="직선 연결선 31"/>
          <p:cNvSpPr/>
          <p:nvPr/>
        </p:nvSpPr>
        <p:spPr>
          <a:xfrm>
            <a:off x="9415797" y="3616021"/>
            <a:ext cx="1418240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25" name="그림 14" descr="그림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426" name="TextBox 1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15</a:t>
            </a:r>
          </a:p>
        </p:txBody>
      </p:sp>
      <p:grpSp>
        <p:nvGrpSpPr>
          <p:cNvPr id="429" name="그림 32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427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428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2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03 ｜ 모델링</a:t>
            </a:r>
          </a:p>
        </p:txBody>
      </p:sp>
      <p:sp>
        <p:nvSpPr>
          <p:cNvPr id="433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34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extBox 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16</a:t>
            </a:r>
          </a:p>
        </p:txBody>
      </p:sp>
      <p:grpSp>
        <p:nvGrpSpPr>
          <p:cNvPr id="438" name="그림 9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436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437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439" name="TextBox 4"/>
          <p:cNvSpPr txBox="1"/>
          <p:nvPr/>
        </p:nvSpPr>
        <p:spPr>
          <a:xfrm>
            <a:off x="360544" y="635232"/>
            <a:ext cx="10789923" cy="483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3000">
                <a:solidFill>
                  <a:srgbClr val="1B2838"/>
                </a:solidFill>
              </a:defRPr>
            </a:pPr>
            <a:r>
              <a:t>모델링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목표</a:t>
            </a:r>
          </a:p>
        </p:txBody>
      </p:sp>
      <p:sp>
        <p:nvSpPr>
          <p:cNvPr id="440" name="TextBox 8"/>
          <p:cNvSpPr txBox="1"/>
          <p:nvPr/>
        </p:nvSpPr>
        <p:spPr>
          <a:xfrm>
            <a:off x="360544" y="1549633"/>
            <a:ext cx="10789923" cy="308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1900">
                <a:solidFill>
                  <a:srgbClr val="2A67A5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“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이 유저가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아직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플레이하지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않은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 중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좋아할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만한 것 </a:t>
            </a:r>
            <a:r>
              <a:t>Top-10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을 순서대로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뽑는다</a:t>
            </a:r>
            <a:r>
              <a:t>”</a:t>
            </a:r>
          </a:p>
        </p:txBody>
      </p:sp>
      <p:sp>
        <p:nvSpPr>
          <p:cNvPr id="441" name="Rectangle 10"/>
          <p:cNvSpPr/>
          <p:nvPr/>
        </p:nvSpPr>
        <p:spPr>
          <a:xfrm>
            <a:off x="360545" y="2189713"/>
            <a:ext cx="3383280" cy="1737364"/>
          </a:xfrm>
          <a:prstGeom prst="rect">
            <a:avLst/>
          </a:prstGeom>
          <a:solidFill>
            <a:srgbClr val="F7F9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42" name="Rectangle 12"/>
          <p:cNvSpPr/>
          <p:nvPr/>
        </p:nvSpPr>
        <p:spPr>
          <a:xfrm>
            <a:off x="360544" y="2189713"/>
            <a:ext cx="54866" cy="1737364"/>
          </a:xfrm>
          <a:prstGeom prst="rect">
            <a:avLst/>
          </a:prstGeom>
          <a:solidFill>
            <a:srgbClr val="2A67A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43" name="TextBox 14"/>
          <p:cNvSpPr txBox="1"/>
          <p:nvPr/>
        </p:nvSpPr>
        <p:spPr>
          <a:xfrm>
            <a:off x="616574" y="2372592"/>
            <a:ext cx="29260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spcBef>
                <a:spcPts val="600"/>
              </a:spcBef>
              <a:defRPr b="1" sz="1500">
                <a:solidFill>
                  <a:srgbClr val="1B28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444" name="TextBox 16"/>
          <p:cNvSpPr txBox="1"/>
          <p:nvPr/>
        </p:nvSpPr>
        <p:spPr>
          <a:xfrm>
            <a:off x="616574" y="2756642"/>
            <a:ext cx="2926085" cy="1133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유저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플레이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이력</a:t>
            </a:r>
            <a:r>
              <a:t> (playtime_hours)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속성</a:t>
            </a:r>
            <a:r>
              <a:t> 42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차원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  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장르</a:t>
            </a:r>
            <a:r>
              <a:t> 12 +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태그</a:t>
            </a:r>
            <a:r>
              <a:t> 30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수치형</a:t>
            </a:r>
            <a:r>
              <a:t> (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평점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리뷰수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인기도</a:t>
            </a:r>
            <a:r>
              <a:t>)</a:t>
            </a:r>
          </a:p>
        </p:txBody>
      </p:sp>
      <p:sp>
        <p:nvSpPr>
          <p:cNvPr id="445" name="Rectangle 18"/>
          <p:cNvSpPr/>
          <p:nvPr/>
        </p:nvSpPr>
        <p:spPr>
          <a:xfrm>
            <a:off x="4063865" y="2189713"/>
            <a:ext cx="3383282" cy="1737364"/>
          </a:xfrm>
          <a:prstGeom prst="rect">
            <a:avLst/>
          </a:prstGeom>
          <a:solidFill>
            <a:srgbClr val="F7F9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46" name="Rectangle 20"/>
          <p:cNvSpPr/>
          <p:nvPr/>
        </p:nvSpPr>
        <p:spPr>
          <a:xfrm>
            <a:off x="4063865" y="2189713"/>
            <a:ext cx="54867" cy="1737364"/>
          </a:xfrm>
          <a:prstGeom prst="rect">
            <a:avLst/>
          </a:prstGeom>
          <a:solidFill>
            <a:srgbClr val="66C0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47" name="TextBox 22"/>
          <p:cNvSpPr txBox="1"/>
          <p:nvPr/>
        </p:nvSpPr>
        <p:spPr>
          <a:xfrm>
            <a:off x="4319897" y="2372592"/>
            <a:ext cx="292608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spcBef>
                <a:spcPts val="600"/>
              </a:spcBef>
              <a:defRPr b="1" sz="1500">
                <a:solidFill>
                  <a:srgbClr val="1B28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448" name="TextBox 24"/>
          <p:cNvSpPr txBox="1"/>
          <p:nvPr/>
        </p:nvSpPr>
        <p:spPr>
          <a:xfrm>
            <a:off x="4319897" y="2756642"/>
            <a:ext cx="2926083" cy="1134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recommend(user, ctx) →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게임별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점수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6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개 모델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모두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동일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인터페이스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보유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후보에서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제외</a:t>
            </a:r>
          </a:p>
        </p:txBody>
      </p:sp>
      <p:sp>
        <p:nvSpPr>
          <p:cNvPr id="449" name="Rectangle 26"/>
          <p:cNvSpPr/>
          <p:nvPr/>
        </p:nvSpPr>
        <p:spPr>
          <a:xfrm>
            <a:off x="7767183" y="2189713"/>
            <a:ext cx="3383283" cy="1737364"/>
          </a:xfrm>
          <a:prstGeom prst="rect">
            <a:avLst/>
          </a:prstGeom>
          <a:solidFill>
            <a:srgbClr val="F7F9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0" name="Rectangle 28"/>
          <p:cNvSpPr/>
          <p:nvPr/>
        </p:nvSpPr>
        <p:spPr>
          <a:xfrm>
            <a:off x="7767184" y="2189713"/>
            <a:ext cx="54867" cy="1737364"/>
          </a:xfrm>
          <a:prstGeom prst="rect">
            <a:avLst/>
          </a:prstGeom>
          <a:solidFill>
            <a:srgbClr val="1E7E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1" name="TextBox 30"/>
          <p:cNvSpPr txBox="1"/>
          <p:nvPr/>
        </p:nvSpPr>
        <p:spPr>
          <a:xfrm>
            <a:off x="8023214" y="2372592"/>
            <a:ext cx="292608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spcBef>
                <a:spcPts val="600"/>
              </a:spcBef>
              <a:defRPr b="1" sz="1500">
                <a:solidFill>
                  <a:srgbClr val="1B28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452" name="TextBox 32"/>
          <p:cNvSpPr txBox="1"/>
          <p:nvPr/>
        </p:nvSpPr>
        <p:spPr>
          <a:xfrm>
            <a:off x="8023214" y="2756641"/>
            <a:ext cx="2926084" cy="52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</a:defRPr>
            </a:pPr>
            <a:r>
              <a:t>점수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내림차순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정렬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→ Top-5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</a:defRPr>
            </a:pPr>
            <a:r>
              <a:t>평가지표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: NDCG@10 / Recall@10</a:t>
            </a:r>
          </a:p>
        </p:txBody>
      </p:sp>
      <p:sp>
        <p:nvSpPr>
          <p:cNvPr id="453" name="Rectangle 34"/>
          <p:cNvSpPr/>
          <p:nvPr/>
        </p:nvSpPr>
        <p:spPr>
          <a:xfrm>
            <a:off x="546427" y="4425641"/>
            <a:ext cx="10789923" cy="1691641"/>
          </a:xfrm>
          <a:prstGeom prst="rect">
            <a:avLst/>
          </a:prstGeom>
          <a:solidFill>
            <a:srgbClr val="F2F6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4" name="TextBox 36"/>
          <p:cNvSpPr txBox="1"/>
          <p:nvPr/>
        </p:nvSpPr>
        <p:spPr>
          <a:xfrm>
            <a:off x="662296" y="4089451"/>
            <a:ext cx="10241282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1400">
                <a:solidFill>
                  <a:srgbClr val="1B2838"/>
                </a:solidFill>
              </a:defRPr>
            </a:pPr>
            <a:r>
              <a:t>데이터 규모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t>모델 입력 기준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</p:txBody>
      </p:sp>
      <p:sp>
        <p:nvSpPr>
          <p:cNvPr id="455" name="TextBox 38"/>
          <p:cNvSpPr txBox="1"/>
          <p:nvPr/>
        </p:nvSpPr>
        <p:spPr>
          <a:xfrm>
            <a:off x="1344135" y="4851386"/>
            <a:ext cx="2011679" cy="349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2200">
                <a:solidFill>
                  <a:srgbClr val="2A67A5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779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명</a:t>
            </a:r>
          </a:p>
        </p:txBody>
      </p:sp>
      <p:sp>
        <p:nvSpPr>
          <p:cNvPr id="456" name="TextBox 40"/>
          <p:cNvSpPr txBox="1"/>
          <p:nvPr/>
        </p:nvSpPr>
        <p:spPr>
          <a:xfrm>
            <a:off x="1252693" y="5308365"/>
            <a:ext cx="2103124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5A636B"/>
                </a:solidFill>
              </a:defRPr>
            </a:pPr>
            <a:r>
              <a:t>평가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대상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유저</a:t>
            </a:r>
          </a:p>
        </p:txBody>
      </p:sp>
      <p:sp>
        <p:nvSpPr>
          <p:cNvPr id="457" name="TextBox 42"/>
          <p:cNvSpPr txBox="1"/>
          <p:nvPr/>
        </p:nvSpPr>
        <p:spPr>
          <a:xfrm>
            <a:off x="3734927" y="4851386"/>
            <a:ext cx="2011680" cy="349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2200">
                <a:solidFill>
                  <a:srgbClr val="2A67A5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3,256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개</a:t>
            </a:r>
          </a:p>
        </p:txBody>
      </p:sp>
      <p:sp>
        <p:nvSpPr>
          <p:cNvPr id="458" name="TextBox 44"/>
          <p:cNvSpPr txBox="1"/>
          <p:nvPr/>
        </p:nvSpPr>
        <p:spPr>
          <a:xfrm>
            <a:off x="3591138" y="5364000"/>
            <a:ext cx="2103123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5A636B"/>
                </a:solidFill>
              </a:defRPr>
            </a:lvl1pPr>
          </a:lstStyle>
          <a:p>
            <a:pPr/>
            <a:r>
              <a:t>실제 플레이된 게임</a:t>
            </a:r>
          </a:p>
        </p:txBody>
      </p:sp>
      <p:sp>
        <p:nvSpPr>
          <p:cNvPr id="459" name="TextBox 46"/>
          <p:cNvSpPr txBox="1"/>
          <p:nvPr/>
        </p:nvSpPr>
        <p:spPr>
          <a:xfrm>
            <a:off x="6011536" y="4851386"/>
            <a:ext cx="2011680" cy="349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2200">
                <a:solidFill>
                  <a:srgbClr val="2A67A5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3,564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개</a:t>
            </a:r>
          </a:p>
        </p:txBody>
      </p:sp>
      <p:sp>
        <p:nvSpPr>
          <p:cNvPr id="460" name="TextBox 48"/>
          <p:cNvSpPr txBox="1"/>
          <p:nvPr/>
        </p:nvSpPr>
        <p:spPr>
          <a:xfrm>
            <a:off x="5892663" y="5362407"/>
            <a:ext cx="2103124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5A636B"/>
                </a:solidFill>
              </a:defRPr>
            </a:pPr>
            <a:r>
              <a:t>후보 카탈로그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t>피처 보유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</p:txBody>
      </p:sp>
      <p:sp>
        <p:nvSpPr>
          <p:cNvPr id="461" name="TextBox 50"/>
          <p:cNvSpPr txBox="1"/>
          <p:nvPr/>
        </p:nvSpPr>
        <p:spPr>
          <a:xfrm>
            <a:off x="8579405" y="4857370"/>
            <a:ext cx="2011679" cy="349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2200">
                <a:solidFill>
                  <a:srgbClr val="2A67A5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23,297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건</a:t>
            </a:r>
          </a:p>
        </p:txBody>
      </p:sp>
      <p:sp>
        <p:nvSpPr>
          <p:cNvPr id="462" name="TextBox 52"/>
          <p:cNvSpPr txBox="1"/>
          <p:nvPr/>
        </p:nvSpPr>
        <p:spPr>
          <a:xfrm>
            <a:off x="8487964" y="5364000"/>
            <a:ext cx="2103123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5A636B"/>
                </a:solidFill>
              </a:defRPr>
            </a:pPr>
            <a:r>
              <a:t>유저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×</a:t>
            </a:r>
            <a:r>
              <a:t>게임 상호작용</a:t>
            </a:r>
          </a:p>
        </p:txBody>
      </p:sp>
      <p:sp>
        <p:nvSpPr>
          <p:cNvPr id="463" name="TextBox 58"/>
          <p:cNvSpPr txBox="1"/>
          <p:nvPr/>
        </p:nvSpPr>
        <p:spPr>
          <a:xfrm>
            <a:off x="158024" y="7183107"/>
            <a:ext cx="10789923" cy="217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i="1" sz="13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→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극도로 희소하고</a:t>
            </a:r>
            <a:r>
              <a:t>(99%)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게임의 </a:t>
            </a:r>
            <a:r>
              <a:t>47%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가 </a:t>
            </a:r>
            <a:r>
              <a:t>1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인 보유 </a:t>
            </a:r>
            <a:r>
              <a:t>—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모델 선택이 성능을 크게 가르는 조건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03 ｜ 모델링</a:t>
            </a:r>
          </a:p>
        </p:txBody>
      </p:sp>
      <p:sp>
        <p:nvSpPr>
          <p:cNvPr id="467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68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TextBox 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17</a:t>
            </a:r>
          </a:p>
        </p:txBody>
      </p:sp>
      <p:grpSp>
        <p:nvGrpSpPr>
          <p:cNvPr id="472" name="그림 9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470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471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473" name="Rectangle 26"/>
          <p:cNvSpPr/>
          <p:nvPr/>
        </p:nvSpPr>
        <p:spPr>
          <a:xfrm>
            <a:off x="7767183" y="2189713"/>
            <a:ext cx="3383283" cy="1737364"/>
          </a:xfrm>
          <a:prstGeom prst="rect">
            <a:avLst/>
          </a:prstGeom>
          <a:solidFill>
            <a:srgbClr val="F7F9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74" name="TextBox 58"/>
          <p:cNvSpPr txBox="1"/>
          <p:nvPr/>
        </p:nvSpPr>
        <p:spPr>
          <a:xfrm>
            <a:off x="158024" y="7183107"/>
            <a:ext cx="10789923" cy="217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i="1" sz="13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→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극도로 희소하고</a:t>
            </a:r>
            <a:r>
              <a:t>(99%)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게임의 </a:t>
            </a:r>
            <a:r>
              <a:t>47%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가 </a:t>
            </a:r>
            <a:r>
              <a:t>1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인 보유 </a:t>
            </a:r>
            <a:r>
              <a:t>—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모델 선택이 성능을 크게 가르는 조건</a:t>
            </a:r>
          </a:p>
        </p:txBody>
      </p:sp>
      <p:graphicFrame>
        <p:nvGraphicFramePr>
          <p:cNvPr id="475" name="Table 1"/>
          <p:cNvGraphicFramePr/>
          <p:nvPr/>
        </p:nvGraphicFramePr>
        <p:xfrm>
          <a:off x="546429" y="1429900"/>
          <a:ext cx="10789919" cy="44431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247900"/>
                <a:gridCol w="3057144"/>
                <a:gridCol w="2967228"/>
                <a:gridCol w="2517647"/>
              </a:tblGrid>
              <a:tr h="61791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sym typeface="Helvetica"/>
                        </a:rPr>
                        <a:t>모델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sym typeface="Helvetica"/>
                        </a:rPr>
                        <a:t>핵심 아이디어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sym typeface="Helvetica"/>
                        </a:defRPr>
                      </a:pPr>
                      <a:r>
                        <a:t>점수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t>계산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t>신호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sym typeface="Helvetica"/>
                        </a:rPr>
                        <a:t>사용 데이터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</a:tr>
              <a:tr h="765041"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①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인기도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비개인화 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baseline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sym typeface="Helvetica"/>
                        </a:rPr>
                        <a:t>플레이한 고유 유저 수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cleaned_played_data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765041"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②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콘텐츠 </a:t>
                      </a:r>
                      <a:r>
                        <a:t>+ Value Score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취향 벡터 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↔ </a:t>
                      </a:r>
                      <a:r>
                        <a:t>게임 속성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코사인 유사도 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</a:t>
                      </a:r>
                      <a:r>
                        <a:t>평점 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</a:t>
                      </a:r>
                      <a:r>
                        <a:t>인기도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취향벡터 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game_features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</a:tr>
              <a:tr h="76504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③ User-CF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sym typeface="Helvetica"/>
                        </a:rPr>
                        <a:t>나와 비슷한 사람이 한 게임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유저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r>
                        <a:t>유저 코사인 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(K=20)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유저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</a:t>
                      </a:r>
                      <a:r>
                        <a:t>게임 행렬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76504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④ Item-CF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sym typeface="Helvetica"/>
                        </a:rPr>
                        <a:t>내가 한 게임과 같이 플레이되는 게임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게임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r>
                        <a:t>게임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t>코사인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유저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</a:t>
                      </a:r>
                      <a:r>
                        <a:t>게임 행렬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t>전치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</a:tr>
              <a:tr h="76504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⑤ SVD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잠재요인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t>행렬분해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Stochastic Gradient Descent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유저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</a:t>
                      </a:r>
                      <a:r>
                        <a:t>게임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t>행렬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6" name="TextBox 3"/>
          <p:cNvSpPr txBox="1"/>
          <p:nvPr/>
        </p:nvSpPr>
        <p:spPr>
          <a:xfrm>
            <a:off x="488630" y="549493"/>
            <a:ext cx="8911036" cy="57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3000">
                <a:solidFill>
                  <a:srgbClr val="1B2838"/>
                </a:solidFill>
              </a:defRPr>
            </a:pPr>
            <a:r>
              <a:t>후보 모델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t>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자유형: 도형 3"/>
          <p:cNvSpPr/>
          <p:nvPr/>
        </p:nvSpPr>
        <p:spPr>
          <a:xfrm>
            <a:off x="442912" y="-3"/>
            <a:ext cx="1619569" cy="5040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9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03 ｜ 모델링</a:t>
            </a:r>
          </a:p>
        </p:txBody>
      </p:sp>
      <p:sp>
        <p:nvSpPr>
          <p:cNvPr id="480" name="직선 연결선 8"/>
          <p:cNvSpPr/>
          <p:nvPr/>
        </p:nvSpPr>
        <p:spPr>
          <a:xfrm>
            <a:off x="442909" y="1128240"/>
            <a:ext cx="11306181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81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482" name="TextBox 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18</a:t>
            </a:r>
          </a:p>
        </p:txBody>
      </p:sp>
      <p:grpSp>
        <p:nvGrpSpPr>
          <p:cNvPr id="485" name="그림 9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483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484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486" name="TextBox 58"/>
          <p:cNvSpPr txBox="1"/>
          <p:nvPr/>
        </p:nvSpPr>
        <p:spPr>
          <a:xfrm>
            <a:off x="158024" y="7183107"/>
            <a:ext cx="10789923" cy="217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i="1" sz="13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→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극도로 희소하고</a:t>
            </a:r>
            <a:r>
              <a:t>(99%)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게임의 </a:t>
            </a:r>
            <a:r>
              <a:t>47%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가 </a:t>
            </a:r>
            <a:r>
              <a:t>1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인 보유 </a:t>
            </a:r>
            <a:r>
              <a:t>—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모델 선택이 성능을 크게 가르는 조건</a:t>
            </a:r>
          </a:p>
        </p:txBody>
      </p:sp>
      <p:sp>
        <p:nvSpPr>
          <p:cNvPr id="487" name="TextBox 3"/>
          <p:cNvSpPr txBox="1"/>
          <p:nvPr/>
        </p:nvSpPr>
        <p:spPr>
          <a:xfrm>
            <a:off x="488631" y="549493"/>
            <a:ext cx="8911033" cy="494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15000"/>
              </a:lnSpc>
              <a:spcBef>
                <a:spcPts val="600"/>
              </a:spcBef>
              <a:defRPr b="1" sz="2500">
                <a:solidFill>
                  <a:srgbClr val="1B28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후보 모델 5종</a:t>
            </a:r>
          </a:p>
        </p:txBody>
      </p:sp>
      <p:grpSp>
        <p:nvGrpSpPr>
          <p:cNvPr id="507" name="그룹 1"/>
          <p:cNvGrpSpPr/>
          <p:nvPr/>
        </p:nvGrpSpPr>
        <p:grpSpPr>
          <a:xfrm>
            <a:off x="4324168" y="2692807"/>
            <a:ext cx="3639975" cy="3670686"/>
            <a:chOff x="-2" y="-2"/>
            <a:chExt cx="3639973" cy="3670684"/>
          </a:xfrm>
        </p:grpSpPr>
        <p:sp>
          <p:nvSpPr>
            <p:cNvPr id="488" name="타원 4"/>
            <p:cNvSpPr/>
            <p:nvPr/>
          </p:nvSpPr>
          <p:spPr>
            <a:xfrm>
              <a:off x="520881" y="645870"/>
              <a:ext cx="2598207" cy="2598207"/>
            </a:xfrm>
            <a:prstGeom prst="ellipse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</a:p>
          </p:txBody>
        </p:sp>
        <p:sp>
          <p:nvSpPr>
            <p:cNvPr id="489" name="타원 9"/>
            <p:cNvSpPr/>
            <p:nvPr/>
          </p:nvSpPr>
          <p:spPr>
            <a:xfrm>
              <a:off x="1139388" y="1259009"/>
              <a:ext cx="1361191" cy="1361191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chemeClr val="accent3">
                  <a:alpha val="12000"/>
                </a:scheme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</a:p>
          </p:txBody>
        </p:sp>
        <p:sp>
          <p:nvSpPr>
            <p:cNvPr id="490" name="TextBox 10"/>
            <p:cNvSpPr txBox="1"/>
            <p:nvPr/>
          </p:nvSpPr>
          <p:spPr>
            <a:xfrm>
              <a:off x="1275314" y="1783192"/>
              <a:ext cx="1089338" cy="421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sz="2200">
                  <a:solidFill>
                    <a:srgbClr val="126BF6"/>
                  </a:solidFill>
                  <a:latin typeface="맑은 고딕"/>
                  <a:ea typeface="맑은 고딕"/>
                  <a:cs typeface="맑은 고딕"/>
                  <a:sym typeface="맑은 고딕"/>
                </a:defRPr>
              </a:lvl1pPr>
            </a:lstStyle>
            <a:p>
              <a:pPr/>
              <a:r>
                <a:t>MODEL</a:t>
              </a:r>
            </a:p>
          </p:txBody>
        </p:sp>
        <p:sp>
          <p:nvSpPr>
            <p:cNvPr id="491" name="타원 11"/>
            <p:cNvSpPr/>
            <p:nvPr/>
          </p:nvSpPr>
          <p:spPr>
            <a:xfrm>
              <a:off x="88906" y="208527"/>
              <a:ext cx="3462158" cy="3462156"/>
            </a:xfrm>
            <a:prstGeom prst="ellipse">
              <a:avLst/>
            </a:prstGeom>
            <a:noFill/>
            <a:ln w="38100" cap="flat">
              <a:solidFill>
                <a:srgbClr val="FFFFFF">
                  <a:alpha val="98000"/>
                </a:srgbClr>
              </a:solidFill>
              <a:prstDash val="solid"/>
              <a:miter lim="800000"/>
            </a:ln>
            <a:effectLst>
              <a:outerShdw sx="100000" sy="100000" kx="0" ky="0" algn="b" rotWithShape="0" blurRad="50800" dist="50800" dir="5400000">
                <a:srgbClr val="D9D9D9"/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Pretendard Black"/>
                  <a:ea typeface="Pretendard Black"/>
                  <a:cs typeface="Pretendard Black"/>
                  <a:sym typeface="Pretendard Black"/>
                </a:defRPr>
              </a:pPr>
            </a:p>
          </p:txBody>
        </p:sp>
        <p:grpSp>
          <p:nvGrpSpPr>
            <p:cNvPr id="494" name="Oval 2"/>
            <p:cNvGrpSpPr/>
            <p:nvPr/>
          </p:nvGrpSpPr>
          <p:grpSpPr>
            <a:xfrm>
              <a:off x="-3" y="936107"/>
              <a:ext cx="439161" cy="439161"/>
              <a:chOff x="0" y="-1"/>
              <a:chExt cx="439160" cy="439160"/>
            </a:xfrm>
          </p:grpSpPr>
          <p:sp>
            <p:nvSpPr>
              <p:cNvPr id="492" name="원"/>
              <p:cNvSpPr/>
              <p:nvPr/>
            </p:nvSpPr>
            <p:spPr>
              <a:xfrm>
                <a:off x="-1" y="-2"/>
                <a:ext cx="439161" cy="439161"/>
              </a:xfrm>
              <a:prstGeom prst="ellipse">
                <a:avLst/>
              </a:prstGeom>
              <a:solidFill>
                <a:srgbClr val="126B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493" name="5"/>
              <p:cNvSpPr txBox="1"/>
              <p:nvPr/>
            </p:nvSpPr>
            <p:spPr>
              <a:xfrm>
                <a:off x="103834" y="21459"/>
                <a:ext cx="231490" cy="39623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ctr">
                <a:spAutoFit/>
              </a:bodyPr>
              <a:lstStyle>
                <a:lvl1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497" name="Oval 2"/>
            <p:cNvGrpSpPr/>
            <p:nvPr/>
          </p:nvGrpSpPr>
          <p:grpSpPr>
            <a:xfrm>
              <a:off x="3200811" y="936107"/>
              <a:ext cx="439161" cy="439161"/>
              <a:chOff x="0" y="-1"/>
              <a:chExt cx="439160" cy="439160"/>
            </a:xfrm>
          </p:grpSpPr>
          <p:sp>
            <p:nvSpPr>
              <p:cNvPr id="495" name="원"/>
              <p:cNvSpPr/>
              <p:nvPr/>
            </p:nvSpPr>
            <p:spPr>
              <a:xfrm>
                <a:off x="-1" y="-2"/>
                <a:ext cx="439161" cy="439161"/>
              </a:xfrm>
              <a:prstGeom prst="ellipse">
                <a:avLst/>
              </a:prstGeom>
              <a:solidFill>
                <a:srgbClr val="126B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496" name="2"/>
              <p:cNvSpPr txBox="1"/>
              <p:nvPr/>
            </p:nvSpPr>
            <p:spPr>
              <a:xfrm>
                <a:off x="103834" y="21459"/>
                <a:ext cx="231490" cy="39623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ctr">
                <a:spAutoFit/>
              </a:bodyPr>
              <a:lstStyle>
                <a:lvl1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500" name="Oval 2"/>
            <p:cNvGrpSpPr/>
            <p:nvPr/>
          </p:nvGrpSpPr>
          <p:grpSpPr>
            <a:xfrm>
              <a:off x="244513" y="2865468"/>
              <a:ext cx="439161" cy="439161"/>
              <a:chOff x="-1" y="-1"/>
              <a:chExt cx="439160" cy="439160"/>
            </a:xfrm>
          </p:grpSpPr>
          <p:sp>
            <p:nvSpPr>
              <p:cNvPr id="498" name="원"/>
              <p:cNvSpPr/>
              <p:nvPr/>
            </p:nvSpPr>
            <p:spPr>
              <a:xfrm>
                <a:off x="-2" y="-2"/>
                <a:ext cx="439162" cy="439161"/>
              </a:xfrm>
              <a:prstGeom prst="ellipse">
                <a:avLst/>
              </a:prstGeom>
              <a:solidFill>
                <a:srgbClr val="126B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</a:p>
            </p:txBody>
          </p:sp>
          <p:sp>
            <p:nvSpPr>
              <p:cNvPr id="499" name="4"/>
              <p:cNvSpPr txBox="1"/>
              <p:nvPr/>
            </p:nvSpPr>
            <p:spPr>
              <a:xfrm>
                <a:off x="103834" y="21459"/>
                <a:ext cx="231490" cy="39623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ctr">
                <a:spAutoFit/>
              </a:bodyPr>
              <a:lstStyle>
                <a:lvl1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503" name="Oval 2"/>
            <p:cNvGrpSpPr/>
            <p:nvPr/>
          </p:nvGrpSpPr>
          <p:grpSpPr>
            <a:xfrm>
              <a:off x="2989708" y="2865468"/>
              <a:ext cx="439161" cy="439161"/>
              <a:chOff x="0" y="-1"/>
              <a:chExt cx="439160" cy="439160"/>
            </a:xfrm>
          </p:grpSpPr>
          <p:sp>
            <p:nvSpPr>
              <p:cNvPr id="501" name="원"/>
              <p:cNvSpPr/>
              <p:nvPr/>
            </p:nvSpPr>
            <p:spPr>
              <a:xfrm>
                <a:off x="-1" y="-2"/>
                <a:ext cx="439161" cy="439161"/>
              </a:xfrm>
              <a:prstGeom prst="ellipse">
                <a:avLst/>
              </a:prstGeom>
              <a:solidFill>
                <a:srgbClr val="126B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pPr>
              </a:p>
            </p:txBody>
          </p:sp>
          <p:sp>
            <p:nvSpPr>
              <p:cNvPr id="502" name="3"/>
              <p:cNvSpPr txBox="1"/>
              <p:nvPr/>
            </p:nvSpPr>
            <p:spPr>
              <a:xfrm>
                <a:off x="103834" y="21459"/>
                <a:ext cx="231490" cy="39623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ctr">
                <a:spAutoFit/>
              </a:bodyPr>
              <a:lstStyle>
                <a:lvl1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506" name="Oval 2"/>
            <p:cNvGrpSpPr/>
            <p:nvPr/>
          </p:nvGrpSpPr>
          <p:grpSpPr>
            <a:xfrm>
              <a:off x="1600404" y="-3"/>
              <a:ext cx="439161" cy="439161"/>
              <a:chOff x="-1" y="-1"/>
              <a:chExt cx="439160" cy="439160"/>
            </a:xfrm>
          </p:grpSpPr>
          <p:sp>
            <p:nvSpPr>
              <p:cNvPr id="504" name="원"/>
              <p:cNvSpPr/>
              <p:nvPr/>
            </p:nvSpPr>
            <p:spPr>
              <a:xfrm>
                <a:off x="-2" y="-2"/>
                <a:ext cx="439162" cy="439161"/>
              </a:xfrm>
              <a:prstGeom prst="ellipse">
                <a:avLst/>
              </a:prstGeom>
              <a:solidFill>
                <a:srgbClr val="126BF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505" name="1"/>
              <p:cNvSpPr txBox="1"/>
              <p:nvPr/>
            </p:nvSpPr>
            <p:spPr>
              <a:xfrm>
                <a:off x="103834" y="21459"/>
                <a:ext cx="231490" cy="39623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ctr">
                <a:spAutoFit/>
              </a:bodyPr>
              <a:lstStyle>
                <a:lvl1pPr algn="ctr">
                  <a:defRPr sz="2000">
                    <a:solidFill>
                      <a:srgbClr val="FFFFFF"/>
                    </a:solidFill>
                    <a:latin typeface="Pretendard Black"/>
                    <a:ea typeface="Pretendard Black"/>
                    <a:cs typeface="Pretendard Black"/>
                    <a:sym typeface="Pretendard Black"/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</p:grpSp>
      <p:grpSp>
        <p:nvGrpSpPr>
          <p:cNvPr id="510" name="그룹 16"/>
          <p:cNvGrpSpPr/>
          <p:nvPr/>
        </p:nvGrpSpPr>
        <p:grpSpPr>
          <a:xfrm>
            <a:off x="1012327" y="2692810"/>
            <a:ext cx="3014349" cy="1509860"/>
            <a:chOff x="0" y="0"/>
            <a:chExt cx="3014347" cy="1509858"/>
          </a:xfrm>
        </p:grpSpPr>
        <p:sp>
          <p:nvSpPr>
            <p:cNvPr id="508" name="직사각형 17"/>
            <p:cNvSpPr/>
            <p:nvPr/>
          </p:nvSpPr>
          <p:spPr>
            <a:xfrm>
              <a:off x="-1" y="56842"/>
              <a:ext cx="3014349" cy="1453017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</p:txBody>
        </p:sp>
        <p:sp>
          <p:nvSpPr>
            <p:cNvPr id="509" name="직사각형 18"/>
            <p:cNvSpPr/>
            <p:nvPr/>
          </p:nvSpPr>
          <p:spPr>
            <a:xfrm flipH="1" rot="10800000">
              <a:off x="-1" y="0"/>
              <a:ext cx="3014349" cy="47877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</p:txBody>
        </p:sp>
      </p:grpSp>
      <p:sp>
        <p:nvSpPr>
          <p:cNvPr id="511" name="Rectangle 57"/>
          <p:cNvSpPr txBox="1"/>
          <p:nvPr/>
        </p:nvSpPr>
        <p:spPr>
          <a:xfrm>
            <a:off x="1840738" y="2804647"/>
            <a:ext cx="1493218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26BF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SVD</a:t>
            </a:r>
          </a:p>
        </p:txBody>
      </p:sp>
      <p:sp>
        <p:nvSpPr>
          <p:cNvPr id="512" name="TextBox 20"/>
          <p:cNvSpPr txBox="1"/>
          <p:nvPr/>
        </p:nvSpPr>
        <p:spPr>
          <a:xfrm>
            <a:off x="1202734" y="3134877"/>
            <a:ext cx="2769224" cy="853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관측된 (u,i)쌍만으로 SGD학습</a:t>
            </a:r>
          </a:p>
          <a:p>
            <a:pPr marL="120315" indent="-120315">
              <a:buSzPct val="100000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CF가 이웃을 못 찾는 희소 게임에서          잠재요인으로 취향을 일반화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예측 행렬을 ctx에 캐싱해 1회만 학습</a:t>
            </a:r>
          </a:p>
        </p:txBody>
      </p:sp>
      <p:grpSp>
        <p:nvGrpSpPr>
          <p:cNvPr id="515" name="그룹 21"/>
          <p:cNvGrpSpPr/>
          <p:nvPr/>
        </p:nvGrpSpPr>
        <p:grpSpPr>
          <a:xfrm>
            <a:off x="1070351" y="4971940"/>
            <a:ext cx="2878657" cy="1441895"/>
            <a:chOff x="-1" y="0"/>
            <a:chExt cx="2878655" cy="1441893"/>
          </a:xfrm>
        </p:grpSpPr>
        <p:sp>
          <p:nvSpPr>
            <p:cNvPr id="513" name="직사각형 22"/>
            <p:cNvSpPr/>
            <p:nvPr/>
          </p:nvSpPr>
          <p:spPr>
            <a:xfrm>
              <a:off x="-2" y="54283"/>
              <a:ext cx="2878657" cy="1387610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</p:txBody>
        </p:sp>
        <p:sp>
          <p:nvSpPr>
            <p:cNvPr id="514" name="직사각형 23"/>
            <p:cNvSpPr/>
            <p:nvPr/>
          </p:nvSpPr>
          <p:spPr>
            <a:xfrm flipH="1" rot="10800000">
              <a:off x="-2" y="0"/>
              <a:ext cx="2878657" cy="45722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</p:txBody>
        </p:sp>
      </p:grpSp>
      <p:sp>
        <p:nvSpPr>
          <p:cNvPr id="516" name="Rectangle 57"/>
          <p:cNvSpPr txBox="1"/>
          <p:nvPr/>
        </p:nvSpPr>
        <p:spPr>
          <a:xfrm>
            <a:off x="1173926" y="5129453"/>
            <a:ext cx="2671510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26BF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Item-CF </a:t>
            </a:r>
          </a:p>
        </p:txBody>
      </p:sp>
      <p:sp>
        <p:nvSpPr>
          <p:cNvPr id="517" name="TextBox 25"/>
          <p:cNvSpPr txBox="1"/>
          <p:nvPr/>
        </p:nvSpPr>
        <p:spPr>
          <a:xfrm>
            <a:off x="1089995" y="5523850"/>
            <a:ext cx="2878653" cy="853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같은 유저x게임 행렬의 전치</a:t>
            </a:r>
          </a:p>
          <a:p>
            <a:pPr marL="120315" indent="-120315">
              <a:buSzPct val="100000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보유 게임과 높은 유사를 가진 다른 게임의 유저 게임 리스트의 코사인 유사도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점수 = 유저의 플레이 벡터 • 게임유사도 행렬</a:t>
            </a:r>
          </a:p>
        </p:txBody>
      </p:sp>
      <p:grpSp>
        <p:nvGrpSpPr>
          <p:cNvPr id="520" name="그룹 26"/>
          <p:cNvGrpSpPr/>
          <p:nvPr/>
        </p:nvGrpSpPr>
        <p:grpSpPr>
          <a:xfrm>
            <a:off x="8433051" y="2498751"/>
            <a:ext cx="2878657" cy="1441894"/>
            <a:chOff x="0" y="0"/>
            <a:chExt cx="2878655" cy="1441893"/>
          </a:xfrm>
        </p:grpSpPr>
        <p:sp>
          <p:nvSpPr>
            <p:cNvPr id="518" name="직사각형 27"/>
            <p:cNvSpPr/>
            <p:nvPr/>
          </p:nvSpPr>
          <p:spPr>
            <a:xfrm>
              <a:off x="-1" y="54283"/>
              <a:ext cx="2878656" cy="1387610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</p:txBody>
        </p:sp>
        <p:sp>
          <p:nvSpPr>
            <p:cNvPr id="519" name="직사각형 28"/>
            <p:cNvSpPr/>
            <p:nvPr/>
          </p:nvSpPr>
          <p:spPr>
            <a:xfrm flipH="1" rot="10800000">
              <a:off x="-1" y="0"/>
              <a:ext cx="2878656" cy="45722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</p:txBody>
        </p:sp>
      </p:grpSp>
      <p:sp>
        <p:nvSpPr>
          <p:cNvPr id="521" name="Rectangle 57"/>
          <p:cNvSpPr txBox="1"/>
          <p:nvPr/>
        </p:nvSpPr>
        <p:spPr>
          <a:xfrm>
            <a:off x="9020340" y="2608003"/>
            <a:ext cx="1710797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26BF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Content</a:t>
            </a:r>
          </a:p>
        </p:txBody>
      </p:sp>
      <p:sp>
        <p:nvSpPr>
          <p:cNvPr id="522" name="TextBox 30"/>
          <p:cNvSpPr txBox="1"/>
          <p:nvPr/>
        </p:nvSpPr>
        <p:spPr>
          <a:xfrm>
            <a:off x="8491128" y="3096188"/>
            <a:ext cx="2769224" cy="693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유저 취향벡터 </a:t>
            </a:r>
            <a:r>
              <a:rPr sz="1400"/>
              <a:t>· </a:t>
            </a:r>
            <a:r>
              <a:t>게임 벡터의 코사인 유사도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Value Score로 동점 보정</a:t>
            </a:r>
          </a:p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보유 게임을 제외한 Top 10 게임 추천</a:t>
            </a:r>
          </a:p>
        </p:txBody>
      </p:sp>
      <p:grpSp>
        <p:nvGrpSpPr>
          <p:cNvPr id="525" name="그룹 31"/>
          <p:cNvGrpSpPr/>
          <p:nvPr/>
        </p:nvGrpSpPr>
        <p:grpSpPr>
          <a:xfrm>
            <a:off x="8402245" y="4971940"/>
            <a:ext cx="2878657" cy="1441895"/>
            <a:chOff x="0" y="0"/>
            <a:chExt cx="2878655" cy="1441893"/>
          </a:xfrm>
        </p:grpSpPr>
        <p:sp>
          <p:nvSpPr>
            <p:cNvPr id="523" name="직사각형 32"/>
            <p:cNvSpPr/>
            <p:nvPr/>
          </p:nvSpPr>
          <p:spPr>
            <a:xfrm>
              <a:off x="-1" y="54283"/>
              <a:ext cx="2878656" cy="1387610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</p:txBody>
        </p:sp>
        <p:sp>
          <p:nvSpPr>
            <p:cNvPr id="524" name="직사각형 33"/>
            <p:cNvSpPr/>
            <p:nvPr/>
          </p:nvSpPr>
          <p:spPr>
            <a:xfrm flipH="1" rot="10800000">
              <a:off x="-1" y="0"/>
              <a:ext cx="2878656" cy="45722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</p:txBody>
        </p:sp>
      </p:grpSp>
      <p:sp>
        <p:nvSpPr>
          <p:cNvPr id="526" name="Rectangle 57"/>
          <p:cNvSpPr txBox="1"/>
          <p:nvPr/>
        </p:nvSpPr>
        <p:spPr>
          <a:xfrm>
            <a:off x="9094964" y="5129452"/>
            <a:ext cx="1493218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26BF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User - CF</a:t>
            </a:r>
          </a:p>
        </p:txBody>
      </p:sp>
      <p:sp>
        <p:nvSpPr>
          <p:cNvPr id="527" name="TextBox 35"/>
          <p:cNvSpPr txBox="1"/>
          <p:nvPr/>
        </p:nvSpPr>
        <p:spPr>
          <a:xfrm>
            <a:off x="8463860" y="5455079"/>
            <a:ext cx="2878654" cy="883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20315" indent="-120315">
              <a:buSzPct val="100000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유저x게임 행렬</a:t>
            </a:r>
          </a:p>
          <a:p>
            <a:pPr marL="120315" indent="-120315">
              <a:buSzPct val="100000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유저 </a:t>
            </a:r>
            <a:r>
              <a:rPr sz="1400"/>
              <a:t>· </a:t>
            </a:r>
            <a:r>
              <a:t>유저 코사인 유사도</a:t>
            </a:r>
          </a:p>
          <a:p>
            <a:pPr marL="120315" indent="-120315">
              <a:buSzPct val="100000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가장 비슷한 이웃 K=20명 선택</a:t>
            </a:r>
          </a:p>
          <a:p>
            <a:pPr marL="120315" indent="-120315">
              <a:buSzPct val="100000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점수 Σ(이웃 유사도 x 그 이웃의 플레이타임)</a:t>
            </a:r>
          </a:p>
        </p:txBody>
      </p:sp>
      <p:grpSp>
        <p:nvGrpSpPr>
          <p:cNvPr id="530" name="그룹 26"/>
          <p:cNvGrpSpPr/>
          <p:nvPr/>
        </p:nvGrpSpPr>
        <p:grpSpPr>
          <a:xfrm>
            <a:off x="4704826" y="1217333"/>
            <a:ext cx="2878657" cy="1441894"/>
            <a:chOff x="-1" y="0"/>
            <a:chExt cx="2878655" cy="1441893"/>
          </a:xfrm>
        </p:grpSpPr>
        <p:sp>
          <p:nvSpPr>
            <p:cNvPr id="528" name="직사각형 27"/>
            <p:cNvSpPr/>
            <p:nvPr/>
          </p:nvSpPr>
          <p:spPr>
            <a:xfrm>
              <a:off x="-2" y="54283"/>
              <a:ext cx="2878657" cy="1387610"/>
            </a:xfrm>
            <a:prstGeom prst="rect">
              <a:avLst/>
            </a:prstGeom>
            <a:solidFill>
              <a:srgbClr val="F6F7F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</p:txBody>
        </p:sp>
        <p:sp>
          <p:nvSpPr>
            <p:cNvPr id="529" name="직사각형 28"/>
            <p:cNvSpPr/>
            <p:nvPr/>
          </p:nvSpPr>
          <p:spPr>
            <a:xfrm flipH="1" rot="10800000">
              <a:off x="-2" y="0"/>
              <a:ext cx="2878657" cy="45722"/>
            </a:xfrm>
            <a:prstGeom prst="rect">
              <a:avLst/>
            </a:prstGeom>
            <a:solidFill>
              <a:srgbClr val="126BF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800"/>
                </a:lnSpc>
                <a:defRPr sz="1300"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</a:p>
          </p:txBody>
        </p:sp>
      </p:grpSp>
      <p:sp>
        <p:nvSpPr>
          <p:cNvPr id="531" name="Rectangle 57"/>
          <p:cNvSpPr txBox="1"/>
          <p:nvPr/>
        </p:nvSpPr>
        <p:spPr>
          <a:xfrm>
            <a:off x="5288758" y="1307213"/>
            <a:ext cx="1710797" cy="332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26BF6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인기도</a:t>
            </a:r>
          </a:p>
        </p:txBody>
      </p:sp>
      <p:sp>
        <p:nvSpPr>
          <p:cNvPr id="532" name="TextBox 30"/>
          <p:cNvSpPr txBox="1"/>
          <p:nvPr/>
        </p:nvSpPr>
        <p:spPr>
          <a:xfrm>
            <a:off x="4759545" y="1643982"/>
            <a:ext cx="2769223" cy="853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20315" indent="-120315">
              <a:buSzPct val="100000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플레이 유저 정렬</a:t>
            </a:r>
          </a:p>
          <a:p>
            <a:pPr marL="120315" indent="-120315">
              <a:buSzPct val="100000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보유 게임 제외한 Top 10 게임 추천</a:t>
            </a:r>
          </a:p>
          <a:p>
            <a:pPr marL="120315" indent="-120315">
              <a:buSzPct val="100000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모든 유저에게 같은 목록 추천</a:t>
            </a:r>
          </a:p>
          <a:p>
            <a:pPr marL="120315" indent="-120315">
              <a:buSzPct val="100000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기준선 역할 </a:t>
            </a:r>
          </a:p>
        </p:txBody>
      </p:sp>
      <p:sp>
        <p:nvSpPr>
          <p:cNvPr id="533" name="TextBox 24"/>
          <p:cNvSpPr txBox="1"/>
          <p:nvPr/>
        </p:nvSpPr>
        <p:spPr>
          <a:xfrm>
            <a:off x="8442876" y="4000998"/>
            <a:ext cx="2572388" cy="312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60000"/>
              </a:lnSpc>
              <a:spcBef>
                <a:spcPts val="600"/>
              </a:spcBef>
              <a:defRPr sz="900">
                <a:solidFill>
                  <a:srgbClr val="535353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Value Score — 각 항 0~1 정규화</a:t>
            </a:r>
          </a:p>
          <a:p>
            <a:pPr>
              <a:lnSpc>
                <a:spcPct val="60000"/>
              </a:lnSpc>
              <a:spcBef>
                <a:spcPts val="600"/>
              </a:spcBef>
              <a:defRPr sz="900">
                <a:solidFill>
                  <a:srgbClr val="535353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score = 0.6 · 유사도 + 0.2 · 평점 + 0.2 · 인기도</a:t>
            </a:r>
          </a:p>
        </p:txBody>
      </p:sp>
      <p:sp>
        <p:nvSpPr>
          <p:cNvPr id="534" name="TextBox 35"/>
          <p:cNvSpPr txBox="1"/>
          <p:nvPr/>
        </p:nvSpPr>
        <p:spPr>
          <a:xfrm>
            <a:off x="754431" y="1304584"/>
            <a:ext cx="3100829" cy="968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 sz="1200">
                <a:solidFill>
                  <a:srgbClr val="5A636B"/>
                </a:solidFill>
              </a:defRPr>
            </a:pPr>
            <a:r>
              <a:t>✔  평점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(rating_by_reviews), </a:t>
            </a:r>
            <a:r>
              <a:t>인기도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→ </a:t>
            </a:r>
            <a:r>
              <a:t>사용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200">
                <a:solidFill>
                  <a:srgbClr val="5A636B"/>
                </a:solidFill>
              </a:defRPr>
            </a:pPr>
            <a:r>
              <a:t>✘  가격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→ </a:t>
            </a:r>
            <a:r>
              <a:t>품질 신호가 아니므로 제외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200">
                <a:solidFill>
                  <a:srgbClr val="5A636B"/>
                </a:solidFill>
              </a:defRPr>
            </a:pPr>
            <a:r>
              <a:t>✘  메타크리틱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→ 결측이 많아 </a:t>
            </a:r>
            <a:r>
              <a:t>제외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7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03 ｜ 모델링</a:t>
            </a:r>
          </a:p>
        </p:txBody>
      </p:sp>
      <p:sp>
        <p:nvSpPr>
          <p:cNvPr id="538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39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540" name="TextBox 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19</a:t>
            </a:r>
          </a:p>
        </p:txBody>
      </p:sp>
      <p:grpSp>
        <p:nvGrpSpPr>
          <p:cNvPr id="543" name="그림 9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541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542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544" name="TextBox 3"/>
          <p:cNvSpPr txBox="1"/>
          <p:nvPr/>
        </p:nvSpPr>
        <p:spPr>
          <a:xfrm>
            <a:off x="488630" y="549493"/>
            <a:ext cx="8911036" cy="494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2500">
                <a:solidFill>
                  <a:srgbClr val="1B2838"/>
                </a:solidFill>
              </a:defRPr>
            </a:pPr>
            <a:r>
              <a:t>결과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— NDCG@10 </a:t>
            </a:r>
            <a:r>
              <a:t>기준 모델 비교</a:t>
            </a:r>
          </a:p>
        </p:txBody>
      </p:sp>
      <p:sp>
        <p:nvSpPr>
          <p:cNvPr id="545" name="TextBox 4"/>
          <p:cNvSpPr txBox="1"/>
          <p:nvPr/>
        </p:nvSpPr>
        <p:spPr>
          <a:xfrm>
            <a:off x="442909" y="1313208"/>
            <a:ext cx="1078992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i="1"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779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명 </a:t>
            </a:r>
            <a:r>
              <a:t>· hold-out 30% · seed=42 · results/model_comparison_svd_mab.csv</a:t>
            </a:r>
          </a:p>
        </p:txBody>
      </p:sp>
      <p:graphicFrame>
        <p:nvGraphicFramePr>
          <p:cNvPr id="546" name="Table 7"/>
          <p:cNvGraphicFramePr/>
          <p:nvPr/>
        </p:nvGraphicFramePr>
        <p:xfrm>
          <a:off x="447994" y="1772492"/>
          <a:ext cx="10784841" cy="30827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835397"/>
                <a:gridCol w="1828800"/>
                <a:gridCol w="182880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sym typeface="Helvetica"/>
                        </a:rPr>
                        <a:t>모델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NDCG@10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Recall@10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sym typeface="Helvetica"/>
                        </a:rPr>
                        <a:t>비고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Item-CF + Content (α=0.85)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0.2180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0.1727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1B2838"/>
                          </a:solidFill>
                          <a:sym typeface="Helvetica"/>
                        </a:defRPr>
                      </a:pPr>
                      <a:r>
                        <a:t>하이브리드 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· </a:t>
                      </a:r>
                      <a:r>
                        <a:t>최고점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Item-CF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0.2150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0.1704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1B2838"/>
                          </a:solidFill>
                          <a:sym typeface="Helvetica"/>
                        </a:defRPr>
                      </a:pPr>
                      <a:r>
                        <a:t>단일 모델 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t>위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User-CF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0.1905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0.1441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baseline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상회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인기도 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(baseline)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0.1543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0.1248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sym typeface="Helvetica"/>
                        </a:rPr>
                        <a:t>기준선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</a:tr>
              <a:tr h="39444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Content (+Value Score)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0.0883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0.0703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baseline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미달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SVD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0.0646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0.0540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sym typeface="Helvetica"/>
                        </a:rPr>
                        <a:t>데이터 부족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Random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0.0016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0.0021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sym typeface="Helvetica"/>
                        </a:rPr>
                        <a:t>하한선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47" name="TextBox 10"/>
          <p:cNvSpPr txBox="1"/>
          <p:nvPr/>
        </p:nvSpPr>
        <p:spPr>
          <a:xfrm>
            <a:off x="442909" y="5266854"/>
            <a:ext cx="10789926" cy="530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defRPr b="1" sz="1300">
                <a:solidFill>
                  <a:srgbClr val="1A1D2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■ 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협업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필터링</a:t>
            </a:r>
            <a:r>
              <a:t>(Item/User-CF)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이 인기도</a:t>
            </a:r>
            <a:r>
              <a:t> baseline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을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넘음</a:t>
            </a:r>
            <a:r>
              <a:t> →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개인화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작동 확인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b="1" sz="1300">
                <a:solidFill>
                  <a:srgbClr val="1A1D21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■  SVD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는</a:t>
            </a:r>
            <a:r>
              <a:t> baseline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미달</a:t>
            </a:r>
            <a:r>
              <a:t> → 779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명</a:t>
            </a:r>
            <a:r>
              <a:t>·99%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희소에서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잠재요인을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학습할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데이터 부족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0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03 ｜ 모델링</a:t>
            </a:r>
          </a:p>
        </p:txBody>
      </p:sp>
      <p:sp>
        <p:nvSpPr>
          <p:cNvPr id="551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52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553" name="TextBox 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20</a:t>
            </a:r>
          </a:p>
        </p:txBody>
      </p:sp>
      <p:grpSp>
        <p:nvGrpSpPr>
          <p:cNvPr id="556" name="그림 9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554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555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557" name="TextBox 3"/>
          <p:cNvSpPr txBox="1"/>
          <p:nvPr/>
        </p:nvSpPr>
        <p:spPr>
          <a:xfrm>
            <a:off x="488630" y="549493"/>
            <a:ext cx="8911036" cy="494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2500">
                <a:solidFill>
                  <a:srgbClr val="1B2838"/>
                </a:solidFill>
              </a:defRPr>
            </a:pPr>
            <a:r>
              <a:t>해석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— </a:t>
            </a:r>
            <a:r>
              <a:t>왜 이런 순위가 나왔나</a:t>
            </a:r>
          </a:p>
        </p:txBody>
      </p:sp>
      <p:sp>
        <p:nvSpPr>
          <p:cNvPr id="558" name="직사각형 16"/>
          <p:cNvSpPr/>
          <p:nvPr/>
        </p:nvSpPr>
        <p:spPr>
          <a:xfrm>
            <a:off x="3855153" y="1776645"/>
            <a:ext cx="7332476" cy="1155368"/>
          </a:xfrm>
          <a:prstGeom prst="rect">
            <a:avLst/>
          </a:prstGeom>
          <a:solidFill>
            <a:srgbClr val="F6F7FA"/>
          </a:solidFill>
          <a:ln w="12700">
            <a:solidFill>
              <a:srgbClr val="F2F2F2"/>
            </a:solidFill>
          </a:ln>
        </p:spPr>
        <p:txBody>
          <a:bodyPr lIns="45718" tIns="45718" rIns="45718" bIns="45718"/>
          <a:lstStyle/>
          <a:p>
            <a:pPr>
              <a:spcBef>
                <a:spcPts val="1000"/>
              </a:spcBef>
              <a:defRPr sz="3200">
                <a:solidFill>
                  <a:srgbClr val="4540D8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559" name="자유형: 도형 17"/>
          <p:cNvSpPr/>
          <p:nvPr/>
        </p:nvSpPr>
        <p:spPr>
          <a:xfrm rot="5400000">
            <a:off x="1895655" y="879012"/>
            <a:ext cx="1155368" cy="29506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0" y="897"/>
                </a:lnTo>
                <a:lnTo>
                  <a:pt x="8821" y="897"/>
                </a:lnTo>
                <a:lnTo>
                  <a:pt x="10800" y="0"/>
                </a:lnTo>
                <a:lnTo>
                  <a:pt x="12779" y="897"/>
                </a:lnTo>
                <a:lnTo>
                  <a:pt x="21600" y="897"/>
                </a:lnTo>
                <a:lnTo>
                  <a:pt x="21600" y="21600"/>
                </a:lnTo>
                <a:close/>
              </a:path>
            </a:pathLst>
          </a:custGeom>
          <a:solidFill>
            <a:srgbClr val="BFBFB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560" name="TextBox 19"/>
          <p:cNvSpPr txBox="1"/>
          <p:nvPr/>
        </p:nvSpPr>
        <p:spPr>
          <a:xfrm>
            <a:off x="4488908" y="1983315"/>
            <a:ext cx="6347173" cy="706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1900"/>
              </a:lnSpc>
              <a:spcBef>
                <a:spcPts val="1000"/>
              </a:spcBef>
              <a:defRPr sz="1400">
                <a:solidFill>
                  <a:srgbClr val="40404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게임끼리 공동 플레이 관계가 이 데이터에서 가장 강한 신호</a:t>
            </a:r>
          </a:p>
          <a:p>
            <a:pPr>
              <a:lnSpc>
                <a:spcPts val="1900"/>
              </a:lnSpc>
              <a:spcBef>
                <a:spcPts val="1000"/>
              </a:spcBef>
              <a:defRPr sz="1400">
                <a:solidFill>
                  <a:srgbClr val="40404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- 779명 유저 중 게임 간 동시 보유 패턴이 촘촘</a:t>
            </a:r>
          </a:p>
        </p:txBody>
      </p:sp>
      <p:sp>
        <p:nvSpPr>
          <p:cNvPr id="561" name="TextBox 20"/>
          <p:cNvSpPr txBox="1"/>
          <p:nvPr/>
        </p:nvSpPr>
        <p:spPr>
          <a:xfrm>
            <a:off x="1182435" y="2172361"/>
            <a:ext cx="2505604" cy="414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ITEM-CF가 1등인 이유</a:t>
            </a:r>
          </a:p>
        </p:txBody>
      </p:sp>
      <p:sp>
        <p:nvSpPr>
          <p:cNvPr id="562" name="직사각형 24"/>
          <p:cNvSpPr/>
          <p:nvPr/>
        </p:nvSpPr>
        <p:spPr>
          <a:xfrm>
            <a:off x="3855153" y="3191611"/>
            <a:ext cx="7332476" cy="1155367"/>
          </a:xfrm>
          <a:prstGeom prst="rect">
            <a:avLst/>
          </a:prstGeom>
          <a:solidFill>
            <a:srgbClr val="F6F7FA"/>
          </a:solidFill>
          <a:ln w="12700">
            <a:solidFill>
              <a:srgbClr val="F2F2F2"/>
            </a:solidFill>
          </a:ln>
        </p:spPr>
        <p:txBody>
          <a:bodyPr lIns="45718" tIns="45718" rIns="45718" bIns="45718"/>
          <a:lstStyle/>
          <a:p>
            <a:pPr>
              <a:spcBef>
                <a:spcPts val="1000"/>
              </a:spcBef>
              <a:defRPr sz="3200">
                <a:solidFill>
                  <a:srgbClr val="4540D8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563" name="자유형: 도형 25"/>
          <p:cNvSpPr/>
          <p:nvPr/>
        </p:nvSpPr>
        <p:spPr>
          <a:xfrm rot="5400000">
            <a:off x="1895655" y="2293976"/>
            <a:ext cx="1155368" cy="29506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0" y="897"/>
                </a:lnTo>
                <a:lnTo>
                  <a:pt x="8821" y="897"/>
                </a:lnTo>
                <a:lnTo>
                  <a:pt x="10800" y="0"/>
                </a:lnTo>
                <a:lnTo>
                  <a:pt x="12779" y="897"/>
                </a:lnTo>
                <a:lnTo>
                  <a:pt x="21600" y="897"/>
                </a:lnTo>
                <a:lnTo>
                  <a:pt x="21600" y="21600"/>
                </a:lnTo>
                <a:close/>
              </a:path>
            </a:pathLst>
          </a:custGeom>
          <a:solidFill>
            <a:srgbClr val="BFBFB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564" name="TextBox 27"/>
          <p:cNvSpPr txBox="1"/>
          <p:nvPr/>
        </p:nvSpPr>
        <p:spPr>
          <a:xfrm>
            <a:off x="4488908" y="3398282"/>
            <a:ext cx="6347173" cy="706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1900"/>
              </a:lnSpc>
              <a:spcBef>
                <a:spcPts val="1000"/>
              </a:spcBef>
              <a:defRPr sz="1400">
                <a:solidFill>
                  <a:srgbClr val="40404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행렬분해는 관측지가 많아야 잠재요인의 의미를 가짐</a:t>
            </a:r>
          </a:p>
          <a:p>
            <a:pPr>
              <a:lnSpc>
                <a:spcPts val="1900"/>
              </a:lnSpc>
              <a:spcBef>
                <a:spcPts val="1000"/>
              </a:spcBef>
              <a:defRPr sz="1400">
                <a:solidFill>
                  <a:srgbClr val="40404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- 23,297건, 99% 희소, 게임 47%가 1인 보유 →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학습 신호 자체 부족</a:t>
            </a:r>
          </a:p>
        </p:txBody>
      </p:sp>
      <p:sp>
        <p:nvSpPr>
          <p:cNvPr id="565" name="TextBox 29"/>
          <p:cNvSpPr txBox="1"/>
          <p:nvPr/>
        </p:nvSpPr>
        <p:spPr>
          <a:xfrm>
            <a:off x="1326685" y="3534123"/>
            <a:ext cx="2217105" cy="414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SVD가 낮은 이유</a:t>
            </a:r>
          </a:p>
        </p:txBody>
      </p:sp>
      <p:sp>
        <p:nvSpPr>
          <p:cNvPr id="566" name="직사각형 1"/>
          <p:cNvSpPr/>
          <p:nvPr/>
        </p:nvSpPr>
        <p:spPr>
          <a:xfrm>
            <a:off x="3855153" y="4680668"/>
            <a:ext cx="7332476" cy="1155368"/>
          </a:xfrm>
          <a:prstGeom prst="rect">
            <a:avLst/>
          </a:prstGeom>
          <a:solidFill>
            <a:srgbClr val="F6F7FA"/>
          </a:solidFill>
          <a:ln w="12700">
            <a:solidFill>
              <a:srgbClr val="F2F2F2"/>
            </a:solidFill>
          </a:ln>
        </p:spPr>
        <p:txBody>
          <a:bodyPr lIns="45718" tIns="45718" rIns="45718" bIns="45718"/>
          <a:lstStyle/>
          <a:p>
            <a:pPr>
              <a:spcBef>
                <a:spcPts val="1000"/>
              </a:spcBef>
              <a:defRPr sz="3200">
                <a:solidFill>
                  <a:srgbClr val="4540D8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567" name="자유형: 도형 4"/>
          <p:cNvSpPr/>
          <p:nvPr/>
        </p:nvSpPr>
        <p:spPr>
          <a:xfrm rot="5400000">
            <a:off x="1895655" y="3783034"/>
            <a:ext cx="1155368" cy="29506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0" y="897"/>
                </a:lnTo>
                <a:lnTo>
                  <a:pt x="8821" y="897"/>
                </a:lnTo>
                <a:lnTo>
                  <a:pt x="10800" y="0"/>
                </a:lnTo>
                <a:lnTo>
                  <a:pt x="12779" y="897"/>
                </a:lnTo>
                <a:lnTo>
                  <a:pt x="21600" y="897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568" name="TextBox 10"/>
          <p:cNvSpPr txBox="1"/>
          <p:nvPr/>
        </p:nvSpPr>
        <p:spPr>
          <a:xfrm>
            <a:off x="4322631" y="4887340"/>
            <a:ext cx="6513450" cy="706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1900"/>
              </a:lnSpc>
              <a:spcBef>
                <a:spcPts val="1000"/>
              </a:spcBef>
              <a:defRPr sz="1400">
                <a:solidFill>
                  <a:srgbClr val="40404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Value Score 도입으로 순수 유사도 대비 3배 개선 (0.026 →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0.088) 했지만 baseline 미달</a:t>
            </a:r>
          </a:p>
          <a:p>
            <a:pPr>
              <a:lnSpc>
                <a:spcPts val="1900"/>
              </a:lnSpc>
              <a:spcBef>
                <a:spcPts val="1000"/>
              </a:spcBef>
              <a:defRPr b="1" sz="1400">
                <a:solidFill>
                  <a:srgbClr val="404040"/>
                </a:solidFill>
              </a:defRPr>
            </a:pPr>
            <a:r>
              <a:t>취향을 직접 쓰는 유일한 모델이 가장 낮은 성능을 가짐 </a:t>
            </a:r>
          </a:p>
        </p:txBody>
      </p:sp>
      <p:sp>
        <p:nvSpPr>
          <p:cNvPr id="569" name="TextBox 12"/>
          <p:cNvSpPr txBox="1"/>
          <p:nvPr/>
        </p:nvSpPr>
        <p:spPr>
          <a:xfrm>
            <a:off x="1326685" y="5015781"/>
            <a:ext cx="2217105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600">
                <a:solidFill>
                  <a:srgbClr val="FFFFFF"/>
                </a:solidFill>
              </a:defRPr>
            </a:lvl1pPr>
          </a:lstStyle>
          <a:p>
            <a:pPr/>
            <a:r>
              <a:t>CONTENT ?</a:t>
            </a:r>
          </a:p>
        </p:txBody>
      </p:sp>
      <p:sp>
        <p:nvSpPr>
          <p:cNvPr id="570" name="TextBox 7"/>
          <p:cNvSpPr txBox="1"/>
          <p:nvPr/>
        </p:nvSpPr>
        <p:spPr>
          <a:xfrm>
            <a:off x="8143120" y="5226925"/>
            <a:ext cx="1286182" cy="421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200">
                <a:solidFill>
                  <a:srgbClr val="126BF6"/>
                </a:solidFill>
              </a:defRPr>
            </a:lvl1pPr>
          </a:lstStyle>
          <a:p>
            <a:pPr/>
            <a:r>
              <a:t>WHY?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3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03 ｜ 모델링</a:t>
            </a:r>
          </a:p>
        </p:txBody>
      </p:sp>
      <p:sp>
        <p:nvSpPr>
          <p:cNvPr id="574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75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576" name="TextBox 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21</a:t>
            </a:r>
          </a:p>
        </p:txBody>
      </p:sp>
      <p:grpSp>
        <p:nvGrpSpPr>
          <p:cNvPr id="579" name="그림 9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577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578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580" name="TextBox 58"/>
          <p:cNvSpPr txBox="1"/>
          <p:nvPr/>
        </p:nvSpPr>
        <p:spPr>
          <a:xfrm>
            <a:off x="158024" y="7183107"/>
            <a:ext cx="10789923" cy="217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i="1" sz="13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→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극도로 희소하고</a:t>
            </a:r>
            <a:r>
              <a:t>(99%)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게임의 </a:t>
            </a:r>
            <a:r>
              <a:t>47%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가 </a:t>
            </a:r>
            <a:r>
              <a:t>1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인 보유 </a:t>
            </a:r>
            <a:r>
              <a:t>—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모델 선택이 성능을 크게 가르는 조건</a:t>
            </a:r>
          </a:p>
        </p:txBody>
      </p:sp>
      <p:sp>
        <p:nvSpPr>
          <p:cNvPr id="581" name="TextBox 3"/>
          <p:cNvSpPr txBox="1"/>
          <p:nvPr/>
        </p:nvSpPr>
        <p:spPr>
          <a:xfrm>
            <a:off x="488630" y="549493"/>
            <a:ext cx="8911036" cy="494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2500">
                <a:solidFill>
                  <a:srgbClr val="1B2838"/>
                </a:solidFill>
              </a:defRPr>
            </a:pPr>
            <a:r>
              <a:t>해석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① — </a:t>
            </a:r>
            <a:r>
              <a:t>실제 추천 목록을 눈으로 확인</a:t>
            </a:r>
          </a:p>
        </p:txBody>
      </p:sp>
      <p:sp>
        <p:nvSpPr>
          <p:cNvPr id="582" name="TextBox 26"/>
          <p:cNvSpPr txBox="1"/>
          <p:nvPr/>
        </p:nvSpPr>
        <p:spPr>
          <a:xfrm>
            <a:off x="442909" y="1402114"/>
            <a:ext cx="1078992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i="1" sz="1200">
                <a:solidFill>
                  <a:srgbClr val="5A636B"/>
                </a:solidFill>
              </a:defRPr>
            </a:pPr>
            <a:r>
              <a:t>필터 없는 전체 카탈로그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(3,564</a:t>
            </a:r>
            <a:r>
              <a:t>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t>에서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t>명을 뽑아 보유 게임과 추천 결과를 나란히 비교</a:t>
            </a:r>
          </a:p>
        </p:txBody>
      </p:sp>
      <p:graphicFrame>
        <p:nvGraphicFramePr>
          <p:cNvPr id="583" name="Table 28"/>
          <p:cNvGraphicFramePr/>
          <p:nvPr/>
        </p:nvGraphicFramePr>
        <p:xfrm>
          <a:off x="442912" y="1891319"/>
          <a:ext cx="10789920" cy="24414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247900"/>
                <a:gridCol w="2787396"/>
                <a:gridCol w="2877312"/>
                <a:gridCol w="2877312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FFFFF"/>
                          </a:solidFill>
                          <a:sym typeface="Helvetica"/>
                        </a:defRPr>
                      </a:pPr>
                      <a:r>
                        <a:t>유저 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t>주 플레이 장르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sym typeface="Helvetica"/>
                        </a:defRPr>
                      </a:pPr>
                      <a:r>
                        <a:t>실제 보유 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top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Item-CF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추천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Content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추천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캐주얼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t>시뮬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Sims4, Banana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CS2, Terraria, GTA V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Summon, Lethal Company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전략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/PvP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Stellaris, RimWorld, Apex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GTA V, R6S, CS2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The Forest, Core Keeper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오픈월드 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RPG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Skyrim, Oblivion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GTA V, Terraria, The Forest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The Forest, Unturned, PEAK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밀리터리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t>시뮬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RimWorld, RDR2, R6S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CS2, Garry's Mod, Terraria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The Forest, Thief Simulator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1A1D21"/>
                          </a:solidFill>
                          <a:sym typeface="Helvetica"/>
                        </a:defRPr>
                      </a:pPr>
                      <a:r>
                        <a:t>레이싱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t>시뮬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Forza, Euro Truck Sim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CS2, GTA V, RDR2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The Forest, Internet Cafe Sim2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4" name="Rectangle 31"/>
          <p:cNvSpPr/>
          <p:nvPr/>
        </p:nvSpPr>
        <p:spPr>
          <a:xfrm>
            <a:off x="497086" y="4593368"/>
            <a:ext cx="5246617" cy="1715139"/>
          </a:xfrm>
          <a:prstGeom prst="rect">
            <a:avLst/>
          </a:prstGeom>
          <a:solidFill>
            <a:srgbClr val="FAECE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85" name="TextBox 33"/>
          <p:cNvSpPr txBox="1"/>
          <p:nvPr/>
        </p:nvSpPr>
        <p:spPr>
          <a:xfrm>
            <a:off x="717229" y="4861087"/>
            <a:ext cx="4846325" cy="29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spcBef>
                <a:spcPts val="600"/>
              </a:spcBef>
              <a:defRPr b="1">
                <a:solidFill>
                  <a:srgbClr val="B33A3A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Item-CF의 문제</a:t>
            </a:r>
          </a:p>
        </p:txBody>
      </p:sp>
      <p:sp>
        <p:nvSpPr>
          <p:cNvPr id="586" name="TextBox 36"/>
          <p:cNvSpPr txBox="1"/>
          <p:nvPr/>
        </p:nvSpPr>
        <p:spPr>
          <a:xfrm>
            <a:off x="717229" y="5127278"/>
            <a:ext cx="4846325" cy="613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defRPr sz="16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- 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장르 구분 없이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거의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모든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유저에게</a:t>
            </a:r>
            <a:r>
              <a:t> 동일 게임을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반복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추천</a:t>
            </a:r>
          </a:p>
          <a:p>
            <a:pPr>
              <a:lnSpc>
                <a:spcPct val="130000"/>
              </a:lnSpc>
              <a:spcBef>
                <a:spcPts val="200"/>
              </a:spcBef>
              <a:defRPr sz="16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→ </a:t>
            </a:r>
            <a:r>
              <a:rPr b="1">
                <a:latin typeface="+mj-lt"/>
                <a:ea typeface="+mj-ea"/>
                <a:cs typeface="+mj-cs"/>
                <a:sym typeface="Pretendard SemiBold"/>
              </a:rPr>
              <a:t>스팀 </a:t>
            </a:r>
            <a:r>
              <a:rPr b="1"/>
              <a:t>TOP </a:t>
            </a:r>
            <a:r>
              <a:rPr b="1">
                <a:latin typeface="+mj-lt"/>
                <a:ea typeface="+mj-ea"/>
                <a:cs typeface="+mj-cs"/>
                <a:sym typeface="Pretendard SemiBold"/>
              </a:rPr>
              <a:t>순위게임 추천과 유사</a:t>
            </a:r>
          </a:p>
        </p:txBody>
      </p:sp>
      <p:sp>
        <p:nvSpPr>
          <p:cNvPr id="587" name="Rectangle 40"/>
          <p:cNvSpPr/>
          <p:nvPr/>
        </p:nvSpPr>
        <p:spPr>
          <a:xfrm>
            <a:off x="5903710" y="4597189"/>
            <a:ext cx="5323663" cy="1711315"/>
          </a:xfrm>
          <a:prstGeom prst="rect">
            <a:avLst/>
          </a:prstGeom>
          <a:solidFill>
            <a:srgbClr val="ECF6E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88" name="TextBox 42"/>
          <p:cNvSpPr txBox="1"/>
          <p:nvPr/>
        </p:nvSpPr>
        <p:spPr>
          <a:xfrm>
            <a:off x="6203632" y="4861087"/>
            <a:ext cx="4846323" cy="29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>
                <a:solidFill>
                  <a:srgbClr val="1E7E4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Content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의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강점</a:t>
            </a:r>
          </a:p>
        </p:txBody>
      </p:sp>
      <p:sp>
        <p:nvSpPr>
          <p:cNvPr id="589" name="TextBox 44"/>
          <p:cNvSpPr txBox="1"/>
          <p:nvPr/>
        </p:nvSpPr>
        <p:spPr>
          <a:xfrm>
            <a:off x="6203632" y="5381278"/>
            <a:ext cx="4846323" cy="255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60420" indent="-160420">
              <a:lnSpc>
                <a:spcPct val="130000"/>
              </a:lnSpc>
              <a:spcBef>
                <a:spcPts val="200"/>
              </a:spcBef>
              <a:buSzPct val="100000"/>
              <a:buChar char="-"/>
              <a:defRPr sz="1600"/>
            </a:pPr>
            <a:r>
              <a:t>유저마다</a:t>
            </a:r>
            <a:r>
              <a:rPr b="1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/>
              <a:t>실제</a:t>
            </a:r>
            <a:r>
              <a:rPr b="1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/>
              <a:t>플레이</a:t>
            </a:r>
            <a:r>
              <a:rPr b="1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/>
              <a:t>장르</a:t>
            </a:r>
            <a:r>
              <a:t>와 유사한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게임을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추천</a:t>
            </a:r>
          </a:p>
        </p:txBody>
      </p:sp>
      <p:sp>
        <p:nvSpPr>
          <p:cNvPr id="590" name="직사각형"/>
          <p:cNvSpPr/>
          <p:nvPr/>
        </p:nvSpPr>
        <p:spPr>
          <a:xfrm>
            <a:off x="5473700" y="2305025"/>
            <a:ext cx="375826" cy="362295"/>
          </a:xfrm>
          <a:prstGeom prst="rect">
            <a:avLst/>
          </a:prstGeom>
          <a:ln w="50800">
            <a:solidFill>
              <a:srgbClr val="FF2600"/>
            </a:solidFill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1" name="직사각형"/>
          <p:cNvSpPr/>
          <p:nvPr/>
        </p:nvSpPr>
        <p:spPr>
          <a:xfrm>
            <a:off x="5486400" y="3524227"/>
            <a:ext cx="375826" cy="362295"/>
          </a:xfrm>
          <a:prstGeom prst="rect">
            <a:avLst/>
          </a:prstGeom>
          <a:ln w="50800">
            <a:solidFill>
              <a:srgbClr val="FF2600"/>
            </a:solidFill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2" name="직사각형"/>
          <p:cNvSpPr/>
          <p:nvPr/>
        </p:nvSpPr>
        <p:spPr>
          <a:xfrm>
            <a:off x="5473700" y="3956027"/>
            <a:ext cx="375826" cy="362295"/>
          </a:xfrm>
          <a:prstGeom prst="rect">
            <a:avLst/>
          </a:prstGeom>
          <a:ln w="50800">
            <a:solidFill>
              <a:srgbClr val="FF2600"/>
            </a:solidFill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3" name="직사각형"/>
          <p:cNvSpPr/>
          <p:nvPr/>
        </p:nvSpPr>
        <p:spPr>
          <a:xfrm>
            <a:off x="6489700" y="2305025"/>
            <a:ext cx="480060" cy="362295"/>
          </a:xfrm>
          <a:prstGeom prst="rect">
            <a:avLst/>
          </a:prstGeom>
          <a:ln w="50800">
            <a:solidFill>
              <a:srgbClr val="0433FF"/>
            </a:solidFill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4" name="직사각형"/>
          <p:cNvSpPr/>
          <p:nvPr/>
        </p:nvSpPr>
        <p:spPr>
          <a:xfrm>
            <a:off x="5499100" y="2698725"/>
            <a:ext cx="480060" cy="362295"/>
          </a:xfrm>
          <a:prstGeom prst="rect">
            <a:avLst/>
          </a:prstGeom>
          <a:ln w="50800">
            <a:solidFill>
              <a:srgbClr val="0433FF"/>
            </a:solidFill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5" name="직사각형"/>
          <p:cNvSpPr/>
          <p:nvPr/>
        </p:nvSpPr>
        <p:spPr>
          <a:xfrm>
            <a:off x="5499100" y="3117825"/>
            <a:ext cx="480060" cy="362295"/>
          </a:xfrm>
          <a:prstGeom prst="rect">
            <a:avLst/>
          </a:prstGeom>
          <a:ln w="50800">
            <a:solidFill>
              <a:srgbClr val="0433FF"/>
            </a:solidFill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6" name="직사각형"/>
          <p:cNvSpPr/>
          <p:nvPr/>
        </p:nvSpPr>
        <p:spPr>
          <a:xfrm>
            <a:off x="5894070" y="3950715"/>
            <a:ext cx="480062" cy="362295"/>
          </a:xfrm>
          <a:prstGeom prst="rect">
            <a:avLst/>
          </a:prstGeom>
          <a:ln w="50800">
            <a:solidFill>
              <a:srgbClr val="0433FF"/>
            </a:solidFill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7" name="직사각형"/>
          <p:cNvSpPr/>
          <p:nvPr/>
        </p:nvSpPr>
        <p:spPr>
          <a:xfrm>
            <a:off x="5892800" y="2305025"/>
            <a:ext cx="557536" cy="362295"/>
          </a:xfrm>
          <a:prstGeom prst="rect">
            <a:avLst/>
          </a:prstGeom>
          <a:ln w="50800">
            <a:solidFill>
              <a:srgbClr val="4F8F00"/>
            </a:solidFill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8" name="직사각형"/>
          <p:cNvSpPr/>
          <p:nvPr/>
        </p:nvSpPr>
        <p:spPr>
          <a:xfrm>
            <a:off x="6019800" y="3105125"/>
            <a:ext cx="557536" cy="362295"/>
          </a:xfrm>
          <a:prstGeom prst="rect">
            <a:avLst/>
          </a:prstGeom>
          <a:ln w="50800">
            <a:solidFill>
              <a:srgbClr val="4F8F00"/>
            </a:solidFill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9" name="직사각형"/>
          <p:cNvSpPr/>
          <p:nvPr/>
        </p:nvSpPr>
        <p:spPr>
          <a:xfrm>
            <a:off x="6794500" y="3524227"/>
            <a:ext cx="557536" cy="362295"/>
          </a:xfrm>
          <a:prstGeom prst="rect">
            <a:avLst/>
          </a:prstGeom>
          <a:ln w="50800">
            <a:solidFill>
              <a:srgbClr val="4F8F00"/>
            </a:solidFill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0" name="직사각형"/>
          <p:cNvSpPr/>
          <p:nvPr/>
        </p:nvSpPr>
        <p:spPr>
          <a:xfrm>
            <a:off x="8377628" y="2683155"/>
            <a:ext cx="807345" cy="1664338"/>
          </a:xfrm>
          <a:prstGeom prst="rect">
            <a:avLst/>
          </a:prstGeom>
          <a:ln w="50800">
            <a:solidFill>
              <a:srgbClr val="FF2600"/>
            </a:solidFill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3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03 ｜ 모델링</a:t>
            </a:r>
          </a:p>
        </p:txBody>
      </p:sp>
      <p:sp>
        <p:nvSpPr>
          <p:cNvPr id="604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05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606" name="TextBox 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22</a:t>
            </a:r>
          </a:p>
        </p:txBody>
      </p:sp>
      <p:grpSp>
        <p:nvGrpSpPr>
          <p:cNvPr id="609" name="그림 9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607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608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610" name="TextBox 58"/>
          <p:cNvSpPr txBox="1"/>
          <p:nvPr/>
        </p:nvSpPr>
        <p:spPr>
          <a:xfrm>
            <a:off x="158024" y="7183107"/>
            <a:ext cx="10789923" cy="217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i="1" sz="13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→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극도로 희소하고</a:t>
            </a:r>
            <a:r>
              <a:t>(99%)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게임의 </a:t>
            </a:r>
            <a:r>
              <a:t>47%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가 </a:t>
            </a:r>
            <a:r>
              <a:t>1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인 보유 </a:t>
            </a:r>
            <a:r>
              <a:t>—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모델 선택이 성능을 크게 가르는 조건</a:t>
            </a:r>
          </a:p>
        </p:txBody>
      </p:sp>
      <p:sp>
        <p:nvSpPr>
          <p:cNvPr id="611" name="TextBox 3"/>
          <p:cNvSpPr txBox="1"/>
          <p:nvPr/>
        </p:nvSpPr>
        <p:spPr>
          <a:xfrm>
            <a:off x="488630" y="549493"/>
            <a:ext cx="8911036" cy="494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2500">
                <a:solidFill>
                  <a:srgbClr val="1B2838"/>
                </a:solidFill>
              </a:defRPr>
            </a:pPr>
            <a:r>
              <a:t>해석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② — </a:t>
            </a:r>
            <a:r>
              <a:t>다양성을 지표로 정량화</a:t>
            </a:r>
          </a:p>
        </p:txBody>
      </p:sp>
      <p:sp>
        <p:nvSpPr>
          <p:cNvPr id="612" name="TextBox 2"/>
          <p:cNvSpPr txBox="1"/>
          <p:nvPr/>
        </p:nvSpPr>
        <p:spPr>
          <a:xfrm>
            <a:off x="442909" y="1444478"/>
            <a:ext cx="1078992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1200"/>
            </a:pPr>
            <a:r>
              <a:t>카탈로그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커버리지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= </a:t>
            </a:r>
            <a:r>
              <a:t>한 번이라도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추천된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고유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게임 수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t>전체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게임 수          개인화도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= 1 − (</a:t>
            </a:r>
            <a:r>
              <a:t>무작위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유저쌍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3,000</a:t>
            </a:r>
            <a:r>
              <a:t>개의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Top-10 Jaccard </a:t>
            </a:r>
            <a:r>
              <a:t>평균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</p:txBody>
      </p:sp>
      <p:graphicFrame>
        <p:nvGraphicFramePr>
          <p:cNvPr id="613" name="Table 5"/>
          <p:cNvGraphicFramePr/>
          <p:nvPr/>
        </p:nvGraphicFramePr>
        <p:xfrm>
          <a:off x="442912" y="1974830"/>
          <a:ext cx="10789919" cy="248716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007026"/>
                <a:gridCol w="1680397"/>
                <a:gridCol w="2299491"/>
                <a:gridCol w="1680397"/>
                <a:gridCol w="2122607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sym typeface="Helvetica"/>
                        </a:rPr>
                        <a:t>모델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NDCG@10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sym typeface="Helvetica"/>
                        </a:rPr>
                        <a:t>카탈로그 커버리지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sym typeface="Helvetica"/>
                        </a:rPr>
                        <a:t>개인화도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sym typeface="Helvetica"/>
                        </a:rPr>
                        <a:t>취향 코사인 유사도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Popularity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0.154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0.7% (24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개</a:t>
                      </a:r>
                      <a:r>
                        <a:t>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0.43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Content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0.088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18.9% (674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개</a:t>
                      </a:r>
                      <a:r>
                        <a:t>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0.75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User-CF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0.190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5.7% (203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개</a:t>
                      </a:r>
                      <a:r>
                        <a:t>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0.87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Item-CF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0.215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7.6% (272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개</a:t>
                      </a:r>
                      <a:r>
                        <a:t>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0.49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Item-CF + Content (α=0.85)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0.218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7.6% (271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개</a:t>
                      </a:r>
                      <a:r>
                        <a:t>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0.79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4" name="Rectangle 7"/>
          <p:cNvSpPr/>
          <p:nvPr/>
        </p:nvSpPr>
        <p:spPr>
          <a:xfrm>
            <a:off x="442909" y="4443710"/>
            <a:ext cx="10789926" cy="1417323"/>
          </a:xfrm>
          <a:prstGeom prst="rect">
            <a:avLst/>
          </a:prstGeom>
          <a:solidFill>
            <a:srgbClr val="E9F2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15" name="TextBox 9"/>
          <p:cNvSpPr txBox="1"/>
          <p:nvPr/>
        </p:nvSpPr>
        <p:spPr>
          <a:xfrm>
            <a:off x="762951" y="4626590"/>
            <a:ext cx="10241282" cy="269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1700">
                <a:solidFill>
                  <a:srgbClr val="1B2838"/>
                </a:solidFill>
              </a:defRPr>
            </a:pPr>
            <a:r>
              <a:t>정확도 순위와 정반대인 </a:t>
            </a:r>
            <a:r>
              <a:rPr>
                <a:solidFill>
                  <a:srgbClr val="3169ED"/>
                </a:solidFill>
              </a:rPr>
              <a:t>다양성 순위</a:t>
            </a:r>
          </a:p>
        </p:txBody>
      </p:sp>
      <p:sp>
        <p:nvSpPr>
          <p:cNvPr id="616" name="TextBox 11"/>
          <p:cNvSpPr txBox="1"/>
          <p:nvPr/>
        </p:nvSpPr>
        <p:spPr>
          <a:xfrm>
            <a:off x="762951" y="5102078"/>
            <a:ext cx="10241282" cy="641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spcBef>
                <a:spcPts val="600"/>
              </a:spcBef>
              <a:defRPr sz="13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solidFill>
                  <a:srgbClr val="000000"/>
                </a:solidFill>
              </a:rPr>
              <a:t>NDCG 1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Pretendard SemiBold"/>
              </a:rPr>
              <a:t>등 </a:t>
            </a:r>
            <a:r>
              <a:rPr>
                <a:solidFill>
                  <a:srgbClr val="000000"/>
                </a:solidFill>
              </a:rPr>
              <a:t>Item-CF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Pretendard SemiBold"/>
              </a:rPr>
              <a:t>의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Pretendard SemiBold"/>
              </a:rPr>
              <a:t>커버리지는</a:t>
            </a:r>
            <a:r>
              <a:rPr>
                <a:solidFill>
                  <a:srgbClr val="000000"/>
                </a:solidFill>
              </a:rPr>
              <a:t> 7.6%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Pretendard SemiBold"/>
              </a:rPr>
              <a:t>뿐 </a:t>
            </a:r>
            <a:r>
              <a:rPr>
                <a:solidFill>
                  <a:srgbClr val="000000"/>
                </a:solidFill>
              </a:rPr>
              <a:t>— 3,564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Pretendard SemiBold"/>
              </a:rPr>
              <a:t>개 중 </a:t>
            </a:r>
            <a:r>
              <a:rPr>
                <a:solidFill>
                  <a:srgbClr val="000000"/>
                </a:solidFill>
              </a:rPr>
              <a:t>272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Pretendard SemiBold"/>
              </a:rPr>
              <a:t>개만 돌려쓴다</a:t>
            </a:r>
            <a:r>
              <a:rPr>
                <a:solidFill>
                  <a:srgbClr val="000000"/>
                </a:solidFill>
              </a:rPr>
              <a:t>. Popularity(0.7%)</a:t>
            </a:r>
            <a:r>
              <a:rPr>
                <a:solidFill>
                  <a:srgbClr val="000000"/>
                </a:solidFill>
                <a:latin typeface="+mj-lt"/>
                <a:ea typeface="+mj-ea"/>
                <a:cs typeface="+mj-cs"/>
                <a:sym typeface="Pretendard SemiBold"/>
              </a:rPr>
              <a:t>와 비슷한 성능</a:t>
            </a:r>
          </a:p>
          <a:p>
            <a:pPr>
              <a:lnSpc>
                <a:spcPct val="145000"/>
              </a:lnSpc>
              <a:spcBef>
                <a:spcPts val="600"/>
              </a:spcBef>
              <a:defRPr sz="13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 sz="1700"/>
              <a:t>Content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 :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커버리지</a:t>
            </a:r>
            <a:r>
              <a:t> 18.9%,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유저 간 </a:t>
            </a:r>
            <a:r>
              <a:t>Top-10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겹침이</a:t>
            </a:r>
            <a:r>
              <a:t> 8%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에 불과</a:t>
            </a:r>
            <a:r>
              <a:t> — </a:t>
            </a:r>
            <a:r>
              <a:rPr b="1">
                <a:latin typeface="+mj-lt"/>
                <a:ea typeface="+mj-ea"/>
                <a:cs typeface="+mj-cs"/>
                <a:sym typeface="Pretendard SemiBold"/>
              </a:rPr>
              <a:t>유저마다</a:t>
            </a:r>
            <a:r>
              <a:rPr b="1"/>
              <a:t> </a:t>
            </a:r>
            <a:r>
              <a:rPr b="1">
                <a:latin typeface="+mj-lt"/>
                <a:ea typeface="+mj-ea"/>
                <a:cs typeface="+mj-cs"/>
                <a:sym typeface="Pretendard SemiBold"/>
              </a:rPr>
              <a:t>실제로</a:t>
            </a:r>
            <a:r>
              <a:rPr b="1"/>
              <a:t> </a:t>
            </a:r>
            <a:r>
              <a:rPr b="1">
                <a:latin typeface="+mj-lt"/>
                <a:ea typeface="+mj-ea"/>
                <a:cs typeface="+mj-cs"/>
                <a:sym typeface="Pretendard SemiBold"/>
              </a:rPr>
              <a:t>다른</a:t>
            </a:r>
            <a:r>
              <a:rPr b="1"/>
              <a:t> </a:t>
            </a:r>
            <a:r>
              <a:rPr b="1">
                <a:latin typeface="+mj-lt"/>
                <a:ea typeface="+mj-ea"/>
                <a:cs typeface="+mj-cs"/>
                <a:sym typeface="Pretendard SemiBold"/>
              </a:rPr>
              <a:t>추천을</a:t>
            </a:r>
            <a:r>
              <a:rPr b="1"/>
              <a:t> </a:t>
            </a:r>
            <a:r>
              <a:rPr b="1">
                <a:latin typeface="+mj-lt"/>
                <a:ea typeface="+mj-ea"/>
                <a:cs typeface="+mj-cs"/>
                <a:sym typeface="Pretendard SemiBold"/>
              </a:rPr>
              <a:t>하는</a:t>
            </a:r>
            <a:r>
              <a:rPr b="1"/>
              <a:t> </a:t>
            </a:r>
            <a:r>
              <a:rPr b="1">
                <a:latin typeface="+mj-lt"/>
                <a:ea typeface="+mj-ea"/>
                <a:cs typeface="+mj-cs"/>
                <a:sym typeface="Pretendard SemiBold"/>
              </a:rPr>
              <a:t>유일한</a:t>
            </a:r>
            <a:r>
              <a:rPr b="1"/>
              <a:t> </a:t>
            </a:r>
            <a:r>
              <a:rPr b="1">
                <a:latin typeface="+mj-lt"/>
                <a:ea typeface="+mj-ea"/>
                <a:cs typeface="+mj-cs"/>
                <a:sym typeface="Pretendard SemiBold"/>
              </a:rPr>
              <a:t>모델</a:t>
            </a:r>
            <a:r>
              <a:rPr b="1"/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03 ｜ 모델링</a:t>
            </a:r>
          </a:p>
        </p:txBody>
      </p:sp>
      <p:sp>
        <p:nvSpPr>
          <p:cNvPr id="620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21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622" name="TextBox 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23</a:t>
            </a:r>
          </a:p>
        </p:txBody>
      </p:sp>
      <p:grpSp>
        <p:nvGrpSpPr>
          <p:cNvPr id="625" name="그림 9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623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624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626" name="TextBox 3"/>
          <p:cNvSpPr txBox="1"/>
          <p:nvPr/>
        </p:nvSpPr>
        <p:spPr>
          <a:xfrm>
            <a:off x="488630" y="549493"/>
            <a:ext cx="8911036" cy="494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2500">
                <a:solidFill>
                  <a:srgbClr val="1B2838"/>
                </a:solidFill>
              </a:defRPr>
            </a:pPr>
            <a:r>
              <a:t>해석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③ — “</a:t>
            </a:r>
            <a:r>
              <a:t>다양성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= </a:t>
            </a:r>
            <a:r>
              <a:t>안 맞는 추천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” </a:t>
            </a:r>
            <a:r>
              <a:t>아닌지 검증</a:t>
            </a:r>
          </a:p>
        </p:txBody>
      </p:sp>
      <p:sp>
        <p:nvSpPr>
          <p:cNvPr id="627" name="TextBox 2"/>
          <p:cNvSpPr txBox="1"/>
          <p:nvPr/>
        </p:nvSpPr>
        <p:spPr>
          <a:xfrm>
            <a:off x="442909" y="1444755"/>
            <a:ext cx="10789926" cy="245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1500">
                <a:solidFill>
                  <a:srgbClr val="2A67A5"/>
                </a:solidFill>
              </a:defRPr>
            </a:pPr>
            <a:r>
              <a:t>유저가 절대 안 할 게임을 뿌려서 다양해 보이는 것이면 의미가 없다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→ </a:t>
            </a:r>
            <a:r>
              <a:t>관련성 지표를 추가 측정</a:t>
            </a:r>
          </a:p>
        </p:txBody>
      </p:sp>
      <p:graphicFrame>
        <p:nvGraphicFramePr>
          <p:cNvPr id="628" name="Table 5"/>
          <p:cNvGraphicFramePr/>
          <p:nvPr/>
        </p:nvGraphicFramePr>
        <p:xfrm>
          <a:off x="442912" y="2065222"/>
          <a:ext cx="5486402" cy="22569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468880"/>
                <a:gridCol w="16459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sym typeface="Helvetica"/>
                        </a:rPr>
                        <a:t>모델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sym typeface="Helvetica"/>
                        </a:rPr>
                        <a:t>취향 코사인 유사도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sym typeface="Helvetica"/>
                        </a:defRPr>
                      </a:pPr>
                      <a:r>
                        <a:t>장르</a:t>
                      </a:r>
                      <a:r>
                        <a:rPr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t>태그 겹침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1B2838"/>
                    </a:solidFill>
                  </a:tcPr>
                </a:tc>
              </a:tr>
              <a:tr h="33671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Popularity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0.43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99.8%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Content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0.75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1B2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3F0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User-CF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99.6%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Item-CF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0.49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99.7%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7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Item-CF + Content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1A1D2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99.8%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9" name="TextBox 7"/>
          <p:cNvSpPr txBox="1"/>
          <p:nvPr/>
        </p:nvSpPr>
        <p:spPr>
          <a:xfrm>
            <a:off x="6249350" y="2166823"/>
            <a:ext cx="4983484" cy="2152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b="1" sz="14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■ 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낮은 변별력</a:t>
            </a:r>
          </a:p>
          <a:p>
            <a:pPr lvl="1" marL="501314" indent="-120313">
              <a:lnSpc>
                <a:spcPct val="120000"/>
              </a:lnSpc>
              <a:spcBef>
                <a:spcPts val="600"/>
              </a:spcBef>
              <a:buSzPct val="100000"/>
              <a:buChar char="-"/>
              <a:defRPr sz="1200"/>
            </a:pPr>
            <a:r>
              <a:t>모든 모델이 99% 이상 장르/태그가 겹쳐 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defRPr b="1" sz="14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■  Content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의 </a:t>
            </a:r>
            <a:r>
              <a:t>0.75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는 </a:t>
            </a:r>
            <a:r>
              <a:t>비교 기준에서 제외</a:t>
            </a:r>
            <a:endParaRPr>
              <a:latin typeface="+mj-lt"/>
              <a:ea typeface="+mj-ea"/>
              <a:cs typeface="+mj-cs"/>
              <a:sym typeface="Pretendard SemiBold"/>
            </a:endParaRPr>
          </a:p>
          <a:p>
            <a:pPr lvl="1" marL="501314" indent="-120313">
              <a:lnSpc>
                <a:spcPct val="120000"/>
              </a:lnSpc>
              <a:spcBef>
                <a:spcPts val="600"/>
              </a:spcBef>
              <a:buSzPct val="100000"/>
              <a:buChar char="-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코사인 유사도 자체를 최적화하는 모델이라 비교근거로 쓰기 부적절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b="1" sz="14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■  Popularity, Item-CF, User-CF 비교</a:t>
            </a:r>
            <a:endParaRPr>
              <a:latin typeface="+mj-lt"/>
              <a:ea typeface="+mj-ea"/>
              <a:cs typeface="+mj-cs"/>
              <a:sym typeface="Pretendard SemiBold"/>
            </a:endParaRPr>
          </a:p>
          <a:p>
            <a:pPr lvl="1" marL="501314" indent="-120313">
              <a:lnSpc>
                <a:spcPct val="120000"/>
              </a:lnSpc>
              <a:spcBef>
                <a:spcPts val="600"/>
              </a:spcBef>
              <a:buSzPct val="100000"/>
              <a:buChar char="-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Popularity 0.43 &lt; Item-CF 0.49 ≈ User-CF 0.50 </a:t>
            </a:r>
          </a:p>
          <a:p>
            <a:pPr lvl="1" marL="501314" indent="-120313">
              <a:lnSpc>
                <a:spcPct val="120000"/>
              </a:lnSpc>
              <a:spcBef>
                <a:spcPts val="600"/>
              </a:spcBef>
              <a:buSzPct val="100000"/>
              <a:buChar char="-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 CF도 사용자의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 취향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일부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반영</a:t>
            </a:r>
          </a:p>
        </p:txBody>
      </p:sp>
      <p:sp>
        <p:nvSpPr>
          <p:cNvPr id="630" name="Rectangle 4"/>
          <p:cNvSpPr/>
          <p:nvPr/>
        </p:nvSpPr>
        <p:spPr>
          <a:xfrm>
            <a:off x="569909" y="4747883"/>
            <a:ext cx="10789926" cy="868682"/>
          </a:xfrm>
          <a:prstGeom prst="rect">
            <a:avLst/>
          </a:prstGeom>
          <a:solidFill>
            <a:srgbClr val="3169E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31" name="TextBox 8"/>
          <p:cNvSpPr txBox="1"/>
          <p:nvPr/>
        </p:nvSpPr>
        <p:spPr>
          <a:xfrm>
            <a:off x="868771" y="4996791"/>
            <a:ext cx="10241282" cy="308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5000"/>
              </a:lnSpc>
              <a:spcBef>
                <a:spcPts val="600"/>
              </a:spcBef>
              <a:defRPr b="1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Content는 NDCG는 낮지만 취향 코사인 유사도 0.75로 실제 선호와 가장 잘 맞는 추천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4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03 ｜ 모델링</a:t>
            </a:r>
          </a:p>
        </p:txBody>
      </p:sp>
      <p:sp>
        <p:nvSpPr>
          <p:cNvPr id="635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36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637" name="TextBox 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24</a:t>
            </a:r>
          </a:p>
        </p:txBody>
      </p:sp>
      <p:grpSp>
        <p:nvGrpSpPr>
          <p:cNvPr id="640" name="그림 9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638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639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641" name="TextBox 4"/>
          <p:cNvSpPr txBox="1"/>
          <p:nvPr/>
        </p:nvSpPr>
        <p:spPr>
          <a:xfrm>
            <a:off x="360544" y="635232"/>
            <a:ext cx="10789923" cy="483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3000">
                <a:solidFill>
                  <a:srgbClr val="1B2838"/>
                </a:solidFill>
              </a:defRPr>
            </a:pPr>
            <a:r>
              <a:t>모델링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최종</a:t>
            </a:r>
          </a:p>
        </p:txBody>
      </p:sp>
      <p:sp>
        <p:nvSpPr>
          <p:cNvPr id="642" name="TextBox 8"/>
          <p:cNvSpPr txBox="1"/>
          <p:nvPr/>
        </p:nvSpPr>
        <p:spPr>
          <a:xfrm>
            <a:off x="360544" y="1549633"/>
            <a:ext cx="10789923" cy="308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1900">
                <a:solidFill>
                  <a:srgbClr val="2A67A5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“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이 유저가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아직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플레이하지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않은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 중</a:t>
            </a:r>
            <a:r>
              <a:t>,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좋아할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만한 것 </a:t>
            </a:r>
            <a:r>
              <a:t>Top-10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을 순서대로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뽑는다</a:t>
            </a:r>
            <a:r>
              <a:t>”</a:t>
            </a:r>
          </a:p>
        </p:txBody>
      </p:sp>
      <p:sp>
        <p:nvSpPr>
          <p:cNvPr id="643" name="Rectangle 10"/>
          <p:cNvSpPr/>
          <p:nvPr/>
        </p:nvSpPr>
        <p:spPr>
          <a:xfrm>
            <a:off x="385126" y="2367924"/>
            <a:ext cx="3383280" cy="1737363"/>
          </a:xfrm>
          <a:prstGeom prst="rect">
            <a:avLst/>
          </a:prstGeom>
          <a:solidFill>
            <a:srgbClr val="F7F9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4" name="Rectangle 12"/>
          <p:cNvSpPr/>
          <p:nvPr/>
        </p:nvSpPr>
        <p:spPr>
          <a:xfrm>
            <a:off x="385126" y="2367924"/>
            <a:ext cx="54867" cy="1737363"/>
          </a:xfrm>
          <a:prstGeom prst="rect">
            <a:avLst/>
          </a:prstGeom>
          <a:solidFill>
            <a:srgbClr val="2A67A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5" name="TextBox 14"/>
          <p:cNvSpPr txBox="1"/>
          <p:nvPr/>
        </p:nvSpPr>
        <p:spPr>
          <a:xfrm>
            <a:off x="641156" y="2550803"/>
            <a:ext cx="2926084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spcBef>
                <a:spcPts val="600"/>
              </a:spcBef>
              <a:defRPr b="1" sz="1500">
                <a:solidFill>
                  <a:srgbClr val="1B28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646" name="TextBox 16"/>
          <p:cNvSpPr txBox="1"/>
          <p:nvPr/>
        </p:nvSpPr>
        <p:spPr>
          <a:xfrm>
            <a:off x="641156" y="2934852"/>
            <a:ext cx="2926084" cy="1133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유저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플레이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이력</a:t>
            </a:r>
            <a:r>
              <a:t> (playtime_hours)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속성</a:t>
            </a:r>
            <a:r>
              <a:t> 42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차원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  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장르</a:t>
            </a:r>
            <a:r>
              <a:t> 12 +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태그</a:t>
            </a:r>
            <a:r>
              <a:t> 30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수치형</a:t>
            </a:r>
            <a:r>
              <a:t> (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평점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리뷰수</a:t>
            </a:r>
            <a:r>
              <a:t>·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인기도</a:t>
            </a:r>
            <a:r>
              <a:t>)</a:t>
            </a:r>
          </a:p>
        </p:txBody>
      </p:sp>
      <p:sp>
        <p:nvSpPr>
          <p:cNvPr id="647" name="Rectangle 18"/>
          <p:cNvSpPr/>
          <p:nvPr/>
        </p:nvSpPr>
        <p:spPr>
          <a:xfrm>
            <a:off x="4088446" y="2367924"/>
            <a:ext cx="3383282" cy="1737363"/>
          </a:xfrm>
          <a:prstGeom prst="rect">
            <a:avLst/>
          </a:prstGeom>
          <a:solidFill>
            <a:srgbClr val="F7F9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8" name="Rectangle 20"/>
          <p:cNvSpPr/>
          <p:nvPr/>
        </p:nvSpPr>
        <p:spPr>
          <a:xfrm>
            <a:off x="4088446" y="2367924"/>
            <a:ext cx="54867" cy="1737363"/>
          </a:xfrm>
          <a:prstGeom prst="rect">
            <a:avLst/>
          </a:prstGeom>
          <a:solidFill>
            <a:srgbClr val="66C0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9" name="TextBox 22"/>
          <p:cNvSpPr txBox="1"/>
          <p:nvPr/>
        </p:nvSpPr>
        <p:spPr>
          <a:xfrm>
            <a:off x="4344477" y="2550803"/>
            <a:ext cx="292608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spcBef>
                <a:spcPts val="600"/>
              </a:spcBef>
              <a:defRPr b="1" sz="1500">
                <a:solidFill>
                  <a:srgbClr val="1B28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650" name="TextBox 24"/>
          <p:cNvSpPr txBox="1"/>
          <p:nvPr/>
        </p:nvSpPr>
        <p:spPr>
          <a:xfrm>
            <a:off x="4344477" y="2934852"/>
            <a:ext cx="2926083" cy="1134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recommend(user, ctx) →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게임별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점수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6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개 모델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모두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동일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인터페이스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·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보유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게임은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후보에서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제외</a:t>
            </a:r>
          </a:p>
        </p:txBody>
      </p:sp>
      <p:sp>
        <p:nvSpPr>
          <p:cNvPr id="651" name="Rectangle 26"/>
          <p:cNvSpPr/>
          <p:nvPr/>
        </p:nvSpPr>
        <p:spPr>
          <a:xfrm>
            <a:off x="7791766" y="2367924"/>
            <a:ext cx="3383282" cy="1737363"/>
          </a:xfrm>
          <a:prstGeom prst="rect">
            <a:avLst/>
          </a:prstGeom>
          <a:solidFill>
            <a:srgbClr val="F7F9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52" name="Rectangle 28"/>
          <p:cNvSpPr/>
          <p:nvPr/>
        </p:nvSpPr>
        <p:spPr>
          <a:xfrm>
            <a:off x="7791766" y="2367924"/>
            <a:ext cx="54867" cy="1737363"/>
          </a:xfrm>
          <a:prstGeom prst="rect">
            <a:avLst/>
          </a:prstGeom>
          <a:solidFill>
            <a:srgbClr val="1E7E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53" name="TextBox 30"/>
          <p:cNvSpPr txBox="1"/>
          <p:nvPr/>
        </p:nvSpPr>
        <p:spPr>
          <a:xfrm>
            <a:off x="8047797" y="2550803"/>
            <a:ext cx="2926083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spcBef>
                <a:spcPts val="600"/>
              </a:spcBef>
              <a:defRPr b="1" sz="1500">
                <a:solidFill>
                  <a:srgbClr val="1B28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654" name="TextBox 32"/>
          <p:cNvSpPr txBox="1"/>
          <p:nvPr/>
        </p:nvSpPr>
        <p:spPr>
          <a:xfrm>
            <a:off x="8047797" y="2861110"/>
            <a:ext cx="2926083" cy="1150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</a:defRPr>
            </a:pPr>
            <a:r>
              <a:t>점수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내림차순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정렬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→ Top-5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</a:defRPr>
            </a:pPr>
            <a:r>
              <a:t>평가지표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: NDCG@10 / Recall@10 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               /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카탈로그 커버리지 / 개인화도 </a:t>
            </a:r>
          </a:p>
          <a:p>
            <a:pPr>
              <a:lnSpc>
                <a:spcPct val="125000"/>
              </a:lnSpc>
              <a:spcBef>
                <a:spcPts val="600"/>
              </a:spcBef>
              <a:defRPr sz="1200">
                <a:solidFill>
                  <a:srgbClr val="5A636B"/>
                </a:solidFill>
              </a:defRPr>
            </a:pPr>
            <a:r>
              <a:t>               /  취향 코사인 유사도</a:t>
            </a:r>
          </a:p>
        </p:txBody>
      </p:sp>
      <p:sp>
        <p:nvSpPr>
          <p:cNvPr id="655" name="TextBox 58"/>
          <p:cNvSpPr txBox="1"/>
          <p:nvPr/>
        </p:nvSpPr>
        <p:spPr>
          <a:xfrm>
            <a:off x="158024" y="7183107"/>
            <a:ext cx="10789923" cy="217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i="1" sz="1300">
                <a:solidFill>
                  <a:srgbClr val="5A636B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→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극도로 희소하고</a:t>
            </a:r>
            <a:r>
              <a:t>(99%)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게임의 </a:t>
            </a:r>
            <a:r>
              <a:t>47%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가 </a:t>
            </a:r>
            <a:r>
              <a:t>1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인 보유 </a:t>
            </a:r>
            <a:r>
              <a:t>—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모델 선택이 성능을 크게 가르는 조건</a:t>
            </a:r>
          </a:p>
        </p:txBody>
      </p:sp>
      <p:sp>
        <p:nvSpPr>
          <p:cNvPr id="656" name="Rectangle 4"/>
          <p:cNvSpPr/>
          <p:nvPr/>
        </p:nvSpPr>
        <p:spPr>
          <a:xfrm>
            <a:off x="393749" y="4610660"/>
            <a:ext cx="10789923" cy="868682"/>
          </a:xfrm>
          <a:prstGeom prst="rect">
            <a:avLst/>
          </a:prstGeom>
          <a:solidFill>
            <a:srgbClr val="3169E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57" name="TextBox 8"/>
          <p:cNvSpPr txBox="1"/>
          <p:nvPr/>
        </p:nvSpPr>
        <p:spPr>
          <a:xfrm>
            <a:off x="692609" y="4859568"/>
            <a:ext cx="10241282" cy="308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defRPr b="1" sz="19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NDCG 1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등</a:t>
            </a:r>
            <a:r>
              <a:t>(Item-CF)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이 아닌</a:t>
            </a:r>
            <a:r>
              <a:t>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개인화가 가장 강한 </a:t>
            </a:r>
            <a:r>
              <a:t>Content 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모델을 최종 채택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0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03 ｜ 모델링</a:t>
            </a:r>
          </a:p>
        </p:txBody>
      </p:sp>
      <p:sp>
        <p:nvSpPr>
          <p:cNvPr id="661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62" name="그림 4" descr="그림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663" name="TextBox 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25</a:t>
            </a:r>
          </a:p>
        </p:txBody>
      </p:sp>
      <p:grpSp>
        <p:nvGrpSpPr>
          <p:cNvPr id="666" name="그림 9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664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665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667" name="TextBox 3"/>
          <p:cNvSpPr txBox="1"/>
          <p:nvPr/>
        </p:nvSpPr>
        <p:spPr>
          <a:xfrm>
            <a:off x="488630" y="549493"/>
            <a:ext cx="8911036" cy="494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2500">
                <a:solidFill>
                  <a:srgbClr val="1B2838"/>
                </a:solidFill>
              </a:defRPr>
            </a:pPr>
            <a:r>
              <a:t>최종 선택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— Content </a:t>
            </a:r>
            <a:r>
              <a:t>기반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+ Value Score</a:t>
            </a:r>
          </a:p>
        </p:txBody>
      </p:sp>
      <p:sp>
        <p:nvSpPr>
          <p:cNvPr id="668" name="Rectangle 12"/>
          <p:cNvSpPr/>
          <p:nvPr/>
        </p:nvSpPr>
        <p:spPr>
          <a:xfrm>
            <a:off x="630069" y="1912720"/>
            <a:ext cx="10789923" cy="777243"/>
          </a:xfrm>
          <a:prstGeom prst="rect">
            <a:avLst/>
          </a:prstGeom>
          <a:solidFill>
            <a:srgbClr val="F7F9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69" name="Rectangle 14"/>
          <p:cNvSpPr/>
          <p:nvPr/>
        </p:nvSpPr>
        <p:spPr>
          <a:xfrm>
            <a:off x="630070" y="1912720"/>
            <a:ext cx="54867" cy="777243"/>
          </a:xfrm>
          <a:prstGeom prst="rect">
            <a:avLst/>
          </a:prstGeom>
          <a:solidFill>
            <a:srgbClr val="1E7E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70" name="TextBox 16"/>
          <p:cNvSpPr txBox="1"/>
          <p:nvPr/>
        </p:nvSpPr>
        <p:spPr>
          <a:xfrm>
            <a:off x="995828" y="2132176"/>
            <a:ext cx="3931925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spcBef>
                <a:spcPts val="600"/>
              </a:spcBef>
              <a:defRPr b="1" sz="1400">
                <a:solidFill>
                  <a:srgbClr val="1B2838"/>
                </a:solidFill>
              </a:defRPr>
            </a:lvl1pPr>
          </a:lstStyle>
          <a:p>
            <a:pPr/>
            <a:r>
              <a:t>프로젝트 목표와의 정합성</a:t>
            </a:r>
          </a:p>
        </p:txBody>
      </p:sp>
      <p:sp>
        <p:nvSpPr>
          <p:cNvPr id="671" name="TextBox 18"/>
          <p:cNvSpPr txBox="1"/>
          <p:nvPr/>
        </p:nvSpPr>
        <p:spPr>
          <a:xfrm>
            <a:off x="5019190" y="2031592"/>
            <a:ext cx="6263643" cy="5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defRPr sz="1200"/>
            </a:pPr>
            <a:r>
              <a:t>목표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자체가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“Steam </a:t>
            </a:r>
            <a:r>
              <a:t>사용자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맞춤형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Value Score </a:t>
            </a:r>
            <a:r>
              <a:t>기반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추천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”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b="1" sz="1200"/>
            </a:pPr>
            <a:r>
              <a:t>지표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1</a:t>
            </a:r>
            <a:r>
              <a:t>등보다 개인화가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t>우선순위에 더 가까움</a:t>
            </a:r>
          </a:p>
        </p:txBody>
      </p:sp>
      <p:sp>
        <p:nvSpPr>
          <p:cNvPr id="672" name="Rectangle 20"/>
          <p:cNvSpPr/>
          <p:nvPr/>
        </p:nvSpPr>
        <p:spPr>
          <a:xfrm>
            <a:off x="630069" y="2781399"/>
            <a:ext cx="10789923" cy="777243"/>
          </a:xfrm>
          <a:prstGeom prst="rect">
            <a:avLst/>
          </a:prstGeom>
          <a:solidFill>
            <a:srgbClr val="F7F9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73" name="Rectangle 22"/>
          <p:cNvSpPr/>
          <p:nvPr/>
        </p:nvSpPr>
        <p:spPr>
          <a:xfrm>
            <a:off x="630070" y="2781399"/>
            <a:ext cx="54867" cy="777243"/>
          </a:xfrm>
          <a:prstGeom prst="rect">
            <a:avLst/>
          </a:prstGeom>
          <a:solidFill>
            <a:srgbClr val="1E7E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74" name="TextBox 24"/>
          <p:cNvSpPr txBox="1"/>
          <p:nvPr/>
        </p:nvSpPr>
        <p:spPr>
          <a:xfrm>
            <a:off x="995828" y="3000855"/>
            <a:ext cx="3931925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spcBef>
                <a:spcPts val="600"/>
              </a:spcBef>
              <a:defRPr b="1" sz="1400">
                <a:solidFill>
                  <a:srgbClr val="1B2838"/>
                </a:solidFill>
              </a:defRPr>
            </a:lvl1pPr>
          </a:lstStyle>
          <a:p>
            <a:pPr/>
            <a:r>
              <a:t>유일하게 개인화가 작동하는 모델</a:t>
            </a:r>
          </a:p>
        </p:txBody>
      </p:sp>
      <p:sp>
        <p:nvSpPr>
          <p:cNvPr id="675" name="TextBox 26"/>
          <p:cNvSpPr txBox="1"/>
          <p:nvPr/>
        </p:nvSpPr>
        <p:spPr>
          <a:xfrm>
            <a:off x="5019190" y="2900271"/>
            <a:ext cx="6263643" cy="5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defRPr sz="1200"/>
            </a:pPr>
            <a:r>
              <a:t>개인화도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0.92(</a:t>
            </a:r>
            <a:r>
              <a:t>유저 간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Top-10 </a:t>
            </a:r>
            <a:r>
              <a:t>겹침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8%), </a:t>
            </a:r>
            <a:r>
              <a:t>커버리지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18.9%(674</a:t>
            </a:r>
            <a:r>
              <a:t>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200"/>
            </a:pPr>
            <a:r>
              <a:t>만든 모델 중 유저마다 실제로 다른 추천을 하는 유일한 모델</a:t>
            </a:r>
          </a:p>
        </p:txBody>
      </p:sp>
      <p:sp>
        <p:nvSpPr>
          <p:cNvPr id="676" name="Rectangle 28"/>
          <p:cNvSpPr/>
          <p:nvPr/>
        </p:nvSpPr>
        <p:spPr>
          <a:xfrm>
            <a:off x="630069" y="3650079"/>
            <a:ext cx="10789923" cy="777243"/>
          </a:xfrm>
          <a:prstGeom prst="rect">
            <a:avLst/>
          </a:prstGeom>
          <a:solidFill>
            <a:srgbClr val="F7F9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77" name="Rectangle 30"/>
          <p:cNvSpPr/>
          <p:nvPr/>
        </p:nvSpPr>
        <p:spPr>
          <a:xfrm>
            <a:off x="630070" y="3650079"/>
            <a:ext cx="54867" cy="777243"/>
          </a:xfrm>
          <a:prstGeom prst="rect">
            <a:avLst/>
          </a:prstGeom>
          <a:solidFill>
            <a:srgbClr val="1E7E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78" name="TextBox 32"/>
          <p:cNvSpPr txBox="1"/>
          <p:nvPr/>
        </p:nvSpPr>
        <p:spPr>
          <a:xfrm>
            <a:off x="995828" y="3869535"/>
            <a:ext cx="3931925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1400">
                <a:solidFill>
                  <a:srgbClr val="1B2838"/>
                </a:solidFill>
              </a:defRPr>
            </a:pPr>
            <a:r>
              <a:t>낮은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NDCG</a:t>
            </a:r>
            <a:r>
              <a:t>는 품질 문제가 아님</a:t>
            </a:r>
          </a:p>
        </p:txBody>
      </p:sp>
      <p:sp>
        <p:nvSpPr>
          <p:cNvPr id="679" name="TextBox 34"/>
          <p:cNvSpPr txBox="1"/>
          <p:nvPr/>
        </p:nvSpPr>
        <p:spPr>
          <a:xfrm>
            <a:off x="5019190" y="3768952"/>
            <a:ext cx="6263643" cy="5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defRPr sz="1200"/>
            </a:pPr>
            <a:r>
              <a:t>취향 코사인 유사도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0.75</a:t>
            </a:r>
            <a:r>
              <a:t>로 전 모델 중 최고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200"/>
            </a:pPr>
            <a:r>
              <a:t>정성 확인에서도 실제 플레이 장르와 유사</a:t>
            </a:r>
          </a:p>
        </p:txBody>
      </p:sp>
      <p:sp>
        <p:nvSpPr>
          <p:cNvPr id="680" name="Rectangle 36"/>
          <p:cNvSpPr/>
          <p:nvPr/>
        </p:nvSpPr>
        <p:spPr>
          <a:xfrm>
            <a:off x="630069" y="4518759"/>
            <a:ext cx="10789923" cy="777243"/>
          </a:xfrm>
          <a:prstGeom prst="rect">
            <a:avLst/>
          </a:prstGeom>
          <a:solidFill>
            <a:srgbClr val="F7F9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81" name="Rectangle 38"/>
          <p:cNvSpPr/>
          <p:nvPr/>
        </p:nvSpPr>
        <p:spPr>
          <a:xfrm>
            <a:off x="630070" y="4518759"/>
            <a:ext cx="54867" cy="777243"/>
          </a:xfrm>
          <a:prstGeom prst="rect">
            <a:avLst/>
          </a:prstGeom>
          <a:solidFill>
            <a:srgbClr val="1E7E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82" name="TextBox 40"/>
          <p:cNvSpPr txBox="1"/>
          <p:nvPr/>
        </p:nvSpPr>
        <p:spPr>
          <a:xfrm>
            <a:off x="995828" y="4738215"/>
            <a:ext cx="3931925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defRPr b="1" sz="1400">
                <a:solidFill>
                  <a:srgbClr val="1B2838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Item-CF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는 목표와 오히려 반대</a:t>
            </a:r>
          </a:p>
        </p:txBody>
      </p:sp>
      <p:sp>
        <p:nvSpPr>
          <p:cNvPr id="683" name="TextBox 42"/>
          <p:cNvSpPr txBox="1"/>
          <p:nvPr/>
        </p:nvSpPr>
        <p:spPr>
          <a:xfrm>
            <a:off x="5019190" y="4637632"/>
            <a:ext cx="6263643" cy="514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defRPr sz="1200"/>
            </a:pPr>
            <a:r>
              <a:t>취향과 무관하게 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동일한 게임을</a:t>
            </a:r>
            <a:r>
              <a:t> 모든 유저에게 반복 추천</a:t>
            </a:r>
            <a:r>
              <a:rPr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2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NDCG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는 </a:t>
            </a:r>
            <a:r>
              <a:t>1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등이지만 </a:t>
            </a:r>
            <a:r>
              <a:t>“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맞춤형</a:t>
            </a:r>
            <a:r>
              <a:t>”</a:t>
            </a:r>
            <a:r>
              <a:rPr>
                <a:latin typeface="+mj-lt"/>
                <a:ea typeface="+mj-ea"/>
                <a:cs typeface="+mj-cs"/>
                <a:sym typeface="Pretendard SemiBold"/>
              </a:rPr>
              <a:t>과는 부적합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6" name="TextBox 5"/>
          <p:cNvSpPr txBox="1"/>
          <p:nvPr/>
        </p:nvSpPr>
        <p:spPr>
          <a:xfrm>
            <a:off x="523355" y="615795"/>
            <a:ext cx="6179048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687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04 ｜ 결론</a:t>
            </a:r>
          </a:p>
        </p:txBody>
      </p:sp>
      <p:sp>
        <p:nvSpPr>
          <p:cNvPr id="688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9" name="타원 1"/>
          <p:cNvSpPr/>
          <p:nvPr/>
        </p:nvSpPr>
        <p:spPr>
          <a:xfrm>
            <a:off x="1218712" y="2740391"/>
            <a:ext cx="1714113" cy="171411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690" name="타원 4"/>
          <p:cNvSpPr/>
          <p:nvPr/>
        </p:nvSpPr>
        <p:spPr>
          <a:xfrm>
            <a:off x="3896895" y="2740391"/>
            <a:ext cx="1714113" cy="171411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691" name="타원 9"/>
          <p:cNvSpPr/>
          <p:nvPr/>
        </p:nvSpPr>
        <p:spPr>
          <a:xfrm>
            <a:off x="9246575" y="2740391"/>
            <a:ext cx="1714113" cy="171411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692" name="타원 10"/>
          <p:cNvSpPr/>
          <p:nvPr/>
        </p:nvSpPr>
        <p:spPr>
          <a:xfrm>
            <a:off x="6575076" y="2740391"/>
            <a:ext cx="1714115" cy="171411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D9D9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693" name="Oval 48"/>
          <p:cNvSpPr/>
          <p:nvPr/>
        </p:nvSpPr>
        <p:spPr>
          <a:xfrm rot="16200000">
            <a:off x="3244980" y="3482334"/>
            <a:ext cx="268193" cy="27032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</a:p>
        </p:txBody>
      </p:sp>
      <p:sp>
        <p:nvSpPr>
          <p:cNvPr id="694" name="Freeform 49"/>
          <p:cNvSpPr/>
          <p:nvPr/>
        </p:nvSpPr>
        <p:spPr>
          <a:xfrm rot="16200000">
            <a:off x="3297077" y="3569232"/>
            <a:ext cx="173536" cy="98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/>
            </a:pPr>
          </a:p>
        </p:txBody>
      </p:sp>
      <p:sp>
        <p:nvSpPr>
          <p:cNvPr id="695" name="Oval 48"/>
          <p:cNvSpPr/>
          <p:nvPr/>
        </p:nvSpPr>
        <p:spPr>
          <a:xfrm rot="16200000">
            <a:off x="5916302" y="3482332"/>
            <a:ext cx="268193" cy="27032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</a:p>
        </p:txBody>
      </p:sp>
      <p:sp>
        <p:nvSpPr>
          <p:cNvPr id="696" name="Freeform 49"/>
          <p:cNvSpPr/>
          <p:nvPr/>
        </p:nvSpPr>
        <p:spPr>
          <a:xfrm rot="16200000">
            <a:off x="5968398" y="3569232"/>
            <a:ext cx="173536" cy="98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/>
            </a:pPr>
          </a:p>
        </p:txBody>
      </p:sp>
      <p:sp>
        <p:nvSpPr>
          <p:cNvPr id="697" name="Oval 48"/>
          <p:cNvSpPr/>
          <p:nvPr/>
        </p:nvSpPr>
        <p:spPr>
          <a:xfrm rot="16200000">
            <a:off x="8662227" y="3482332"/>
            <a:ext cx="268193" cy="270321"/>
          </a:xfrm>
          <a:prstGeom prst="ellips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>
                <a:latin typeface="Pretendard ExtraBold"/>
                <a:ea typeface="Pretendard ExtraBold"/>
                <a:cs typeface="Pretendard ExtraBold"/>
                <a:sym typeface="Pretendard ExtraBold"/>
              </a:defRPr>
            </a:pPr>
          </a:p>
        </p:txBody>
      </p:sp>
      <p:sp>
        <p:nvSpPr>
          <p:cNvPr id="698" name="Freeform 49"/>
          <p:cNvSpPr/>
          <p:nvPr/>
        </p:nvSpPr>
        <p:spPr>
          <a:xfrm rot="16200000">
            <a:off x="8714323" y="3569232"/>
            <a:ext cx="173536" cy="98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2175" y="19161"/>
                </a:lnTo>
                <a:lnTo>
                  <a:pt x="21600" y="2439"/>
                </a:lnTo>
                <a:lnTo>
                  <a:pt x="20225" y="0"/>
                </a:lnTo>
                <a:lnTo>
                  <a:pt x="10800" y="17071"/>
                </a:lnTo>
                <a:lnTo>
                  <a:pt x="1375" y="0"/>
                </a:lnTo>
                <a:lnTo>
                  <a:pt x="0" y="2439"/>
                </a:lnTo>
                <a:lnTo>
                  <a:pt x="9622" y="19161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 sz="1400"/>
            </a:pPr>
          </a:p>
        </p:txBody>
      </p:sp>
      <p:sp>
        <p:nvSpPr>
          <p:cNvPr id="699" name="TextBox 20"/>
          <p:cNvSpPr txBox="1"/>
          <p:nvPr/>
        </p:nvSpPr>
        <p:spPr>
          <a:xfrm>
            <a:off x="4000910" y="3238363"/>
            <a:ext cx="1524422" cy="76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02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데이터 처리</a:t>
            </a:r>
          </a:p>
        </p:txBody>
      </p:sp>
      <p:sp>
        <p:nvSpPr>
          <p:cNvPr id="700" name="TextBox 21"/>
          <p:cNvSpPr txBox="1"/>
          <p:nvPr/>
        </p:nvSpPr>
        <p:spPr>
          <a:xfrm>
            <a:off x="886576" y="4661248"/>
            <a:ext cx="2383460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주제 선정 이유 및 문제의식</a:t>
            </a:r>
          </a:p>
        </p:txBody>
      </p:sp>
      <p:sp>
        <p:nvSpPr>
          <p:cNvPr id="701" name="TextBox 22"/>
          <p:cNvSpPr txBox="1"/>
          <p:nvPr/>
        </p:nvSpPr>
        <p:spPr>
          <a:xfrm>
            <a:off x="3566352" y="4661248"/>
            <a:ext cx="2383459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데이터 수집 정제 전처리</a:t>
            </a:r>
          </a:p>
        </p:txBody>
      </p:sp>
      <p:sp>
        <p:nvSpPr>
          <p:cNvPr id="702" name="TextBox 23"/>
          <p:cNvSpPr txBox="1"/>
          <p:nvPr/>
        </p:nvSpPr>
        <p:spPr>
          <a:xfrm>
            <a:off x="6252812" y="4661248"/>
            <a:ext cx="2383460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모델링 과정 및 평가 방법</a:t>
            </a:r>
          </a:p>
        </p:txBody>
      </p:sp>
      <p:sp>
        <p:nvSpPr>
          <p:cNvPr id="703" name="TextBox 24"/>
          <p:cNvSpPr txBox="1"/>
          <p:nvPr/>
        </p:nvSpPr>
        <p:spPr>
          <a:xfrm>
            <a:off x="8939272" y="4661248"/>
            <a:ext cx="2383460" cy="33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1900"/>
              </a:lnSpc>
              <a:defRPr sz="1200"/>
            </a:lvl1pPr>
          </a:lstStyle>
          <a:p>
            <a:pPr/>
            <a:r>
              <a:t>모델링 결과 및 기대 효과</a:t>
            </a:r>
          </a:p>
        </p:txBody>
      </p:sp>
      <p:sp>
        <p:nvSpPr>
          <p:cNvPr id="704" name="TextBox 25"/>
          <p:cNvSpPr txBox="1"/>
          <p:nvPr/>
        </p:nvSpPr>
        <p:spPr>
          <a:xfrm>
            <a:off x="1313557" y="3228338"/>
            <a:ext cx="1524424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01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개요</a:t>
            </a:r>
          </a:p>
        </p:txBody>
      </p:sp>
      <p:sp>
        <p:nvSpPr>
          <p:cNvPr id="705" name="TextBox 26"/>
          <p:cNvSpPr txBox="1"/>
          <p:nvPr/>
        </p:nvSpPr>
        <p:spPr>
          <a:xfrm>
            <a:off x="9343497" y="3224995"/>
            <a:ext cx="1524422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04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결론</a:t>
            </a:r>
          </a:p>
        </p:txBody>
      </p:sp>
      <p:sp>
        <p:nvSpPr>
          <p:cNvPr id="706" name="TextBox 27"/>
          <p:cNvSpPr txBox="1"/>
          <p:nvPr/>
        </p:nvSpPr>
        <p:spPr>
          <a:xfrm>
            <a:off x="6675652" y="3228338"/>
            <a:ext cx="1524423" cy="769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2700"/>
              </a:lnSpc>
              <a:defRPr sz="2200">
                <a:solidFill>
                  <a:srgbClr val="87B9FA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  <a:r>
              <a:t>03</a:t>
            </a:r>
          </a:p>
          <a:p>
            <a:pPr algn="ctr">
              <a:lnSpc>
                <a:spcPts val="2700"/>
              </a:lnSpc>
              <a:defRPr b="1" sz="16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모델링</a:t>
            </a:r>
          </a:p>
        </p:txBody>
      </p:sp>
      <p:sp>
        <p:nvSpPr>
          <p:cNvPr id="707" name="직선 연결선 28"/>
          <p:cNvSpPr/>
          <p:nvPr/>
        </p:nvSpPr>
        <p:spPr>
          <a:xfrm>
            <a:off x="4051043" y="3616023"/>
            <a:ext cx="1418240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직선 연결선 29"/>
          <p:cNvSpPr/>
          <p:nvPr/>
        </p:nvSpPr>
        <p:spPr>
          <a:xfrm>
            <a:off x="1366649" y="3616021"/>
            <a:ext cx="1418240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직선 연결선 30"/>
          <p:cNvSpPr/>
          <p:nvPr/>
        </p:nvSpPr>
        <p:spPr>
          <a:xfrm>
            <a:off x="9443711" y="3589285"/>
            <a:ext cx="1418240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" name="직선 연결선 31"/>
          <p:cNvSpPr/>
          <p:nvPr/>
        </p:nvSpPr>
        <p:spPr>
          <a:xfrm>
            <a:off x="6742113" y="3616021"/>
            <a:ext cx="1418240" cy="4"/>
          </a:xfrm>
          <a:prstGeom prst="line">
            <a:avLst/>
          </a:prstGeom>
          <a:ln w="1270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711" name="그림 14" descr="그림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712" name="TextBox 1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26</a:t>
            </a:r>
          </a:p>
        </p:txBody>
      </p:sp>
      <p:grpSp>
        <p:nvGrpSpPr>
          <p:cNvPr id="715" name="그림 32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713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714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8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결과물 - 웹서비스</a:t>
            </a:r>
          </a:p>
        </p:txBody>
      </p:sp>
      <p:sp>
        <p:nvSpPr>
          <p:cNvPr id="719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04 ｜ 결론</a:t>
            </a:r>
          </a:p>
        </p:txBody>
      </p:sp>
      <p:sp>
        <p:nvSpPr>
          <p:cNvPr id="720" name="TextBox 7"/>
          <p:cNvSpPr txBox="1"/>
          <p:nvPr/>
        </p:nvSpPr>
        <p:spPr>
          <a:xfrm>
            <a:off x="2834407" y="1367875"/>
            <a:ext cx="6523181" cy="4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2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개인 맞춤형 추천 시스템 구현</a:t>
            </a:r>
          </a:p>
        </p:txBody>
      </p:sp>
      <p:sp>
        <p:nvSpPr>
          <p:cNvPr id="721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722" name="그림 26" descr="그림 2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723" name="TextBox 2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27</a:t>
            </a:r>
          </a:p>
        </p:txBody>
      </p:sp>
      <p:grpSp>
        <p:nvGrpSpPr>
          <p:cNvPr id="726" name="그림 28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724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725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pic>
        <p:nvPicPr>
          <p:cNvPr id="727" name="그림 1" descr="그림 1"/>
          <p:cNvPicPr>
            <a:picLocks noChangeAspect="1"/>
          </p:cNvPicPr>
          <p:nvPr/>
        </p:nvPicPr>
        <p:blipFill>
          <a:blip r:embed="rId4">
            <a:extLst/>
          </a:blip>
          <a:srcRect l="16133" t="20634" r="17123" b="15590"/>
          <a:stretch>
            <a:fillRect/>
          </a:stretch>
        </p:blipFill>
        <p:spPr>
          <a:xfrm>
            <a:off x="2771387" y="1796081"/>
            <a:ext cx="7038381" cy="4373677"/>
          </a:xfrm>
          <a:prstGeom prst="rect">
            <a:avLst/>
          </a:prstGeom>
          <a:ln w="12700">
            <a:miter lim="400000"/>
          </a:ln>
        </p:spPr>
      </p:pic>
      <p:sp>
        <p:nvSpPr>
          <p:cNvPr id="728" name="TextBox 12"/>
          <p:cNvSpPr txBox="1"/>
          <p:nvPr/>
        </p:nvSpPr>
        <p:spPr>
          <a:xfrm>
            <a:off x="3376838" y="5972359"/>
            <a:ext cx="6659314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5" invalidUrl="" action="" tgtFrame="" tooltip="" history="1" highlightClick="0" endSnd="0"/>
              </a:rPr>
              <a:t>https://recommendapppy-8tybprrabpecm4hfq3xmlb.streamlit.app/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1" name="TextBox 5"/>
          <p:cNvSpPr txBox="1"/>
          <p:nvPr/>
        </p:nvSpPr>
        <p:spPr>
          <a:xfrm>
            <a:off x="523355" y="615795"/>
            <a:ext cx="6179048" cy="485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기대효과</a:t>
            </a:r>
          </a:p>
        </p:txBody>
      </p:sp>
      <p:sp>
        <p:nvSpPr>
          <p:cNvPr id="732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04 ｜ 결론</a:t>
            </a:r>
          </a:p>
        </p:txBody>
      </p:sp>
      <p:sp>
        <p:nvSpPr>
          <p:cNvPr id="733" name="TextBox 7"/>
          <p:cNvSpPr txBox="1"/>
          <p:nvPr/>
        </p:nvSpPr>
        <p:spPr>
          <a:xfrm>
            <a:off x="2834407" y="1367875"/>
            <a:ext cx="6523181" cy="4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2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개인 맞춤형 추천 시스템 기대효과</a:t>
            </a:r>
          </a:p>
        </p:txBody>
      </p:sp>
      <p:sp>
        <p:nvSpPr>
          <p:cNvPr id="734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직사각형 1"/>
          <p:cNvSpPr/>
          <p:nvPr/>
        </p:nvSpPr>
        <p:spPr>
          <a:xfrm>
            <a:off x="1014565" y="2210765"/>
            <a:ext cx="10182923" cy="1208842"/>
          </a:xfrm>
          <a:prstGeom prst="rect">
            <a:avLst/>
          </a:prstGeom>
          <a:solidFill>
            <a:srgbClr val="F6F7FA"/>
          </a:solidFill>
          <a:ln w="12700">
            <a:solidFill>
              <a:srgbClr val="F2F2F2"/>
            </a:solidFill>
          </a:ln>
        </p:spPr>
        <p:txBody>
          <a:bodyPr lIns="45718" tIns="45718" rIns="45718" bIns="45718"/>
          <a:lstStyle/>
          <a:p>
            <a:pPr>
              <a:spcBef>
                <a:spcPts val="1000"/>
              </a:spcBef>
              <a:defRPr sz="3200">
                <a:solidFill>
                  <a:srgbClr val="4540D8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736" name="직사각형 4"/>
          <p:cNvSpPr/>
          <p:nvPr/>
        </p:nvSpPr>
        <p:spPr>
          <a:xfrm>
            <a:off x="1001197" y="2210765"/>
            <a:ext cx="106965" cy="1155369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737" name="타원 10"/>
          <p:cNvSpPr/>
          <p:nvPr/>
        </p:nvSpPr>
        <p:spPr>
          <a:xfrm>
            <a:off x="1565421" y="2360677"/>
            <a:ext cx="855539" cy="8555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738" name="Freeform: Shape 139"/>
          <p:cNvSpPr/>
          <p:nvPr/>
        </p:nvSpPr>
        <p:spPr>
          <a:xfrm>
            <a:off x="1769329" y="2607616"/>
            <a:ext cx="442737" cy="3980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8483"/>
                </a:lnTo>
                <a:lnTo>
                  <a:pt x="13661" y="18483"/>
                </a:lnTo>
                <a:lnTo>
                  <a:pt x="11423" y="21016"/>
                </a:lnTo>
                <a:lnTo>
                  <a:pt x="10800" y="21600"/>
                </a:lnTo>
                <a:lnTo>
                  <a:pt x="10177" y="21016"/>
                </a:lnTo>
                <a:lnTo>
                  <a:pt x="7939" y="18483"/>
                </a:lnTo>
                <a:lnTo>
                  <a:pt x="0" y="18483"/>
                </a:lnTo>
                <a:lnTo>
                  <a:pt x="0" y="0"/>
                </a:lnTo>
                <a:close/>
                <a:moveTo>
                  <a:pt x="1654" y="1840"/>
                </a:moveTo>
                <a:lnTo>
                  <a:pt x="1654" y="16622"/>
                </a:lnTo>
                <a:lnTo>
                  <a:pt x="8601" y="16622"/>
                </a:lnTo>
                <a:lnTo>
                  <a:pt x="8912" y="16860"/>
                </a:lnTo>
                <a:lnTo>
                  <a:pt x="10781" y="19003"/>
                </a:lnTo>
                <a:lnTo>
                  <a:pt x="12649" y="16860"/>
                </a:lnTo>
                <a:lnTo>
                  <a:pt x="12960" y="16622"/>
                </a:lnTo>
                <a:lnTo>
                  <a:pt x="19907" y="16622"/>
                </a:lnTo>
                <a:lnTo>
                  <a:pt x="19907" y="1840"/>
                </a:lnTo>
                <a:lnTo>
                  <a:pt x="1654" y="1840"/>
                </a:lnTo>
                <a:close/>
                <a:moveTo>
                  <a:pt x="4982" y="4610"/>
                </a:moveTo>
                <a:lnTo>
                  <a:pt x="16599" y="4610"/>
                </a:lnTo>
                <a:lnTo>
                  <a:pt x="16599" y="6450"/>
                </a:lnTo>
                <a:lnTo>
                  <a:pt x="4982" y="6450"/>
                </a:lnTo>
                <a:lnTo>
                  <a:pt x="4982" y="4610"/>
                </a:lnTo>
                <a:close/>
                <a:moveTo>
                  <a:pt x="4982" y="8311"/>
                </a:moveTo>
                <a:lnTo>
                  <a:pt x="16599" y="8311"/>
                </a:lnTo>
                <a:lnTo>
                  <a:pt x="16599" y="10151"/>
                </a:lnTo>
                <a:lnTo>
                  <a:pt x="4982" y="10151"/>
                </a:lnTo>
                <a:lnTo>
                  <a:pt x="4982" y="8311"/>
                </a:lnTo>
                <a:close/>
                <a:moveTo>
                  <a:pt x="4982" y="11990"/>
                </a:moveTo>
                <a:lnTo>
                  <a:pt x="13291" y="11990"/>
                </a:lnTo>
                <a:lnTo>
                  <a:pt x="13291" y="13830"/>
                </a:lnTo>
                <a:lnTo>
                  <a:pt x="4982" y="13830"/>
                </a:lnTo>
                <a:lnTo>
                  <a:pt x="4982" y="1199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739" name="TextBox 12"/>
          <p:cNvSpPr txBox="1"/>
          <p:nvPr/>
        </p:nvSpPr>
        <p:spPr>
          <a:xfrm>
            <a:off x="3204772" y="2365150"/>
            <a:ext cx="3506848" cy="346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/>
            </a:lvl1pPr>
          </a:lstStyle>
          <a:p>
            <a:pPr/>
            <a:r>
              <a:t>디지털 게임 유통 및 관리 플랫폼: 스팀</a:t>
            </a:r>
          </a:p>
        </p:txBody>
      </p:sp>
      <p:sp>
        <p:nvSpPr>
          <p:cNvPr id="740" name="직사각형 14"/>
          <p:cNvSpPr/>
          <p:nvPr/>
        </p:nvSpPr>
        <p:spPr>
          <a:xfrm>
            <a:off x="1041302" y="3687355"/>
            <a:ext cx="10156188" cy="1142001"/>
          </a:xfrm>
          <a:prstGeom prst="rect">
            <a:avLst/>
          </a:prstGeom>
          <a:solidFill>
            <a:srgbClr val="F6F7FA"/>
          </a:solidFill>
          <a:ln w="12700">
            <a:solidFill>
              <a:srgbClr val="F2F2F2"/>
            </a:solidFill>
          </a:ln>
        </p:spPr>
        <p:txBody>
          <a:bodyPr lIns="45718" tIns="45718" rIns="45718" bIns="45718"/>
          <a:lstStyle/>
          <a:p>
            <a:pPr>
              <a:spcBef>
                <a:spcPts val="1000"/>
              </a:spcBef>
              <a:defRPr sz="3200">
                <a:solidFill>
                  <a:srgbClr val="4540D8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741" name="직사각형 15"/>
          <p:cNvSpPr/>
          <p:nvPr/>
        </p:nvSpPr>
        <p:spPr>
          <a:xfrm>
            <a:off x="1001197" y="3687355"/>
            <a:ext cx="106965" cy="1155369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742" name="타원 16"/>
          <p:cNvSpPr/>
          <p:nvPr/>
        </p:nvSpPr>
        <p:spPr>
          <a:xfrm>
            <a:off x="1565421" y="3837268"/>
            <a:ext cx="855539" cy="8555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743" name="TextBox 17"/>
          <p:cNvSpPr txBox="1"/>
          <p:nvPr/>
        </p:nvSpPr>
        <p:spPr>
          <a:xfrm>
            <a:off x="3218140" y="3788264"/>
            <a:ext cx="2851797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/>
            </a:lvl1pPr>
          </a:lstStyle>
          <a:p>
            <a:pPr/>
            <a:r>
              <a:t>사용자</a:t>
            </a:r>
          </a:p>
        </p:txBody>
      </p:sp>
      <p:sp>
        <p:nvSpPr>
          <p:cNvPr id="744" name="Freeform: Shape 26"/>
          <p:cNvSpPr/>
          <p:nvPr/>
        </p:nvSpPr>
        <p:spPr>
          <a:xfrm>
            <a:off x="1814571" y="4065406"/>
            <a:ext cx="414259" cy="414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75" y="1592"/>
                </a:moveTo>
                <a:cubicBezTo>
                  <a:pt x="4943" y="525"/>
                  <a:pt x="6210" y="0"/>
                  <a:pt x="7695" y="0"/>
                </a:cubicBezTo>
                <a:cubicBezTo>
                  <a:pt x="9180" y="0"/>
                  <a:pt x="10447" y="525"/>
                  <a:pt x="11515" y="1592"/>
                </a:cubicBezTo>
                <a:cubicBezTo>
                  <a:pt x="12583" y="2659"/>
                  <a:pt x="13108" y="3926"/>
                  <a:pt x="13108" y="5409"/>
                </a:cubicBezTo>
                <a:cubicBezTo>
                  <a:pt x="13108" y="6314"/>
                  <a:pt x="12891" y="7164"/>
                  <a:pt x="12457" y="7960"/>
                </a:cubicBezTo>
                <a:cubicBezTo>
                  <a:pt x="12022" y="8756"/>
                  <a:pt x="11443" y="9407"/>
                  <a:pt x="10700" y="9895"/>
                </a:cubicBezTo>
                <a:cubicBezTo>
                  <a:pt x="11153" y="10094"/>
                  <a:pt x="11515" y="10257"/>
                  <a:pt x="11805" y="10420"/>
                </a:cubicBezTo>
                <a:cubicBezTo>
                  <a:pt x="12891" y="9642"/>
                  <a:pt x="14104" y="9262"/>
                  <a:pt x="15426" y="9262"/>
                </a:cubicBezTo>
                <a:cubicBezTo>
                  <a:pt x="17128" y="9262"/>
                  <a:pt x="18594" y="9859"/>
                  <a:pt x="19789" y="11071"/>
                </a:cubicBezTo>
                <a:cubicBezTo>
                  <a:pt x="20984" y="12283"/>
                  <a:pt x="21600" y="13731"/>
                  <a:pt x="21600" y="15431"/>
                </a:cubicBezTo>
                <a:cubicBezTo>
                  <a:pt x="21600" y="17132"/>
                  <a:pt x="21002" y="18597"/>
                  <a:pt x="19789" y="19791"/>
                </a:cubicBezTo>
                <a:cubicBezTo>
                  <a:pt x="18576" y="20985"/>
                  <a:pt x="17128" y="21600"/>
                  <a:pt x="15426" y="21600"/>
                </a:cubicBezTo>
                <a:cubicBezTo>
                  <a:pt x="13724" y="21600"/>
                  <a:pt x="12257" y="21003"/>
                  <a:pt x="11063" y="19791"/>
                </a:cubicBezTo>
                <a:cubicBezTo>
                  <a:pt x="9868" y="18579"/>
                  <a:pt x="9252" y="17132"/>
                  <a:pt x="9252" y="15431"/>
                </a:cubicBezTo>
                <a:cubicBezTo>
                  <a:pt x="9252" y="13984"/>
                  <a:pt x="9705" y="12700"/>
                  <a:pt x="10610" y="11578"/>
                </a:cubicBezTo>
                <a:cubicBezTo>
                  <a:pt x="9705" y="11071"/>
                  <a:pt x="8745" y="10800"/>
                  <a:pt x="7713" y="10800"/>
                </a:cubicBezTo>
                <a:cubicBezTo>
                  <a:pt x="6011" y="10800"/>
                  <a:pt x="4545" y="11397"/>
                  <a:pt x="3350" y="12609"/>
                </a:cubicBezTo>
                <a:cubicBezTo>
                  <a:pt x="2155" y="13821"/>
                  <a:pt x="1539" y="15268"/>
                  <a:pt x="1539" y="16969"/>
                </a:cubicBezTo>
                <a:lnTo>
                  <a:pt x="0" y="16969"/>
                </a:lnTo>
                <a:cubicBezTo>
                  <a:pt x="0" y="15395"/>
                  <a:pt x="435" y="13966"/>
                  <a:pt x="1304" y="12700"/>
                </a:cubicBezTo>
                <a:cubicBezTo>
                  <a:pt x="2173" y="11433"/>
                  <a:pt x="3313" y="10492"/>
                  <a:pt x="4726" y="9877"/>
                </a:cubicBezTo>
                <a:cubicBezTo>
                  <a:pt x="3983" y="9389"/>
                  <a:pt x="3404" y="8756"/>
                  <a:pt x="2969" y="7942"/>
                </a:cubicBezTo>
                <a:cubicBezTo>
                  <a:pt x="2535" y="7146"/>
                  <a:pt x="2318" y="6277"/>
                  <a:pt x="2318" y="5391"/>
                </a:cubicBezTo>
                <a:cubicBezTo>
                  <a:pt x="2281" y="3926"/>
                  <a:pt x="2806" y="2659"/>
                  <a:pt x="3875" y="1592"/>
                </a:cubicBezTo>
                <a:close/>
                <a:moveTo>
                  <a:pt x="10411" y="2677"/>
                </a:moveTo>
                <a:cubicBezTo>
                  <a:pt x="9650" y="1918"/>
                  <a:pt x="8745" y="1538"/>
                  <a:pt x="7677" y="1538"/>
                </a:cubicBezTo>
                <a:cubicBezTo>
                  <a:pt x="6609" y="1538"/>
                  <a:pt x="5703" y="1918"/>
                  <a:pt x="4943" y="2677"/>
                </a:cubicBezTo>
                <a:cubicBezTo>
                  <a:pt x="4182" y="3437"/>
                  <a:pt x="3802" y="4342"/>
                  <a:pt x="3802" y="5409"/>
                </a:cubicBezTo>
                <a:cubicBezTo>
                  <a:pt x="3802" y="6476"/>
                  <a:pt x="4182" y="7381"/>
                  <a:pt x="4943" y="8141"/>
                </a:cubicBezTo>
                <a:cubicBezTo>
                  <a:pt x="5703" y="8901"/>
                  <a:pt x="6609" y="9280"/>
                  <a:pt x="7677" y="9280"/>
                </a:cubicBezTo>
                <a:cubicBezTo>
                  <a:pt x="8745" y="9280"/>
                  <a:pt x="9650" y="8901"/>
                  <a:pt x="10411" y="8141"/>
                </a:cubicBezTo>
                <a:cubicBezTo>
                  <a:pt x="11171" y="7381"/>
                  <a:pt x="11551" y="6476"/>
                  <a:pt x="11551" y="5409"/>
                </a:cubicBezTo>
                <a:cubicBezTo>
                  <a:pt x="11551" y="4342"/>
                  <a:pt x="11171" y="3437"/>
                  <a:pt x="10411" y="2677"/>
                </a:cubicBezTo>
                <a:close/>
                <a:moveTo>
                  <a:pt x="18685" y="12157"/>
                </a:moveTo>
                <a:cubicBezTo>
                  <a:pt x="17780" y="11252"/>
                  <a:pt x="16693" y="10800"/>
                  <a:pt x="15408" y="10800"/>
                </a:cubicBezTo>
                <a:cubicBezTo>
                  <a:pt x="14122" y="10800"/>
                  <a:pt x="13018" y="11252"/>
                  <a:pt x="12131" y="12157"/>
                </a:cubicBezTo>
                <a:cubicBezTo>
                  <a:pt x="11225" y="13061"/>
                  <a:pt x="10773" y="14147"/>
                  <a:pt x="10773" y="15431"/>
                </a:cubicBezTo>
                <a:cubicBezTo>
                  <a:pt x="10773" y="16716"/>
                  <a:pt x="11225" y="17819"/>
                  <a:pt x="12131" y="18706"/>
                </a:cubicBezTo>
                <a:cubicBezTo>
                  <a:pt x="13036" y="19610"/>
                  <a:pt x="14122" y="20062"/>
                  <a:pt x="15408" y="20062"/>
                </a:cubicBezTo>
                <a:cubicBezTo>
                  <a:pt x="16693" y="20062"/>
                  <a:pt x="17798" y="19610"/>
                  <a:pt x="18685" y="18706"/>
                </a:cubicBezTo>
                <a:cubicBezTo>
                  <a:pt x="19590" y="17801"/>
                  <a:pt x="20043" y="16716"/>
                  <a:pt x="20043" y="15431"/>
                </a:cubicBezTo>
                <a:cubicBezTo>
                  <a:pt x="20043" y="14147"/>
                  <a:pt x="19590" y="13061"/>
                  <a:pt x="18685" y="12157"/>
                </a:cubicBezTo>
                <a:close/>
                <a:moveTo>
                  <a:pt x="14629" y="12356"/>
                </a:moveTo>
                <a:lnTo>
                  <a:pt x="16168" y="12356"/>
                </a:lnTo>
                <a:lnTo>
                  <a:pt x="16168" y="14671"/>
                </a:lnTo>
                <a:lnTo>
                  <a:pt x="18486" y="14671"/>
                </a:lnTo>
                <a:lnTo>
                  <a:pt x="18486" y="16209"/>
                </a:lnTo>
                <a:lnTo>
                  <a:pt x="16168" y="16209"/>
                </a:lnTo>
                <a:lnTo>
                  <a:pt x="16168" y="18525"/>
                </a:lnTo>
                <a:lnTo>
                  <a:pt x="14629" y="18525"/>
                </a:lnTo>
                <a:lnTo>
                  <a:pt x="14629" y="16209"/>
                </a:lnTo>
                <a:lnTo>
                  <a:pt x="12312" y="16209"/>
                </a:lnTo>
                <a:lnTo>
                  <a:pt x="12312" y="14671"/>
                </a:lnTo>
                <a:lnTo>
                  <a:pt x="14629" y="14671"/>
                </a:lnTo>
                <a:lnTo>
                  <a:pt x="14629" y="12356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745" name="직사각형 20"/>
          <p:cNvSpPr/>
          <p:nvPr/>
        </p:nvSpPr>
        <p:spPr>
          <a:xfrm>
            <a:off x="1007881" y="5176525"/>
            <a:ext cx="10182922" cy="1168736"/>
          </a:xfrm>
          <a:prstGeom prst="rect">
            <a:avLst/>
          </a:prstGeom>
          <a:solidFill>
            <a:srgbClr val="F6F7FA"/>
          </a:solidFill>
          <a:ln w="12700">
            <a:solidFill>
              <a:srgbClr val="F2F2F2"/>
            </a:solidFill>
          </a:ln>
        </p:spPr>
        <p:txBody>
          <a:bodyPr lIns="45718" tIns="45718" rIns="45718" bIns="45718"/>
          <a:lstStyle/>
          <a:p>
            <a:pPr>
              <a:spcBef>
                <a:spcPts val="1000"/>
              </a:spcBef>
              <a:defRPr sz="3200">
                <a:solidFill>
                  <a:srgbClr val="4540D8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746" name="직사각형 21"/>
          <p:cNvSpPr/>
          <p:nvPr/>
        </p:nvSpPr>
        <p:spPr>
          <a:xfrm>
            <a:off x="1001197" y="5176525"/>
            <a:ext cx="106965" cy="1155369"/>
          </a:xfrm>
          <a:prstGeom prst="rect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747" name="타원 22"/>
          <p:cNvSpPr/>
          <p:nvPr/>
        </p:nvSpPr>
        <p:spPr>
          <a:xfrm>
            <a:off x="1565421" y="5326438"/>
            <a:ext cx="855539" cy="85553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  <a:sym typeface="Pretendard Black"/>
              </a:defRPr>
            </a:pPr>
          </a:p>
        </p:txBody>
      </p:sp>
      <p:sp>
        <p:nvSpPr>
          <p:cNvPr id="748" name="TextBox 23"/>
          <p:cNvSpPr txBox="1"/>
          <p:nvPr/>
        </p:nvSpPr>
        <p:spPr>
          <a:xfrm>
            <a:off x="3204771" y="5277434"/>
            <a:ext cx="2851797" cy="346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600"/>
            </a:lvl1pPr>
          </a:lstStyle>
          <a:p>
            <a:pPr/>
            <a:r>
              <a:t>게임 회사</a:t>
            </a:r>
          </a:p>
        </p:txBody>
      </p:sp>
      <p:sp>
        <p:nvSpPr>
          <p:cNvPr id="749" name="Freeform: Shape 27"/>
          <p:cNvSpPr/>
          <p:nvPr/>
        </p:nvSpPr>
        <p:spPr>
          <a:xfrm>
            <a:off x="1830290" y="5542838"/>
            <a:ext cx="332520" cy="407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812" y="0"/>
                </a:moveTo>
                <a:cubicBezTo>
                  <a:pt x="11007" y="0"/>
                  <a:pt x="11857" y="525"/>
                  <a:pt x="12386" y="1594"/>
                </a:cubicBezTo>
                <a:lnTo>
                  <a:pt x="19624" y="1594"/>
                </a:lnTo>
                <a:lnTo>
                  <a:pt x="19624" y="8794"/>
                </a:lnTo>
                <a:lnTo>
                  <a:pt x="21600" y="8794"/>
                </a:lnTo>
                <a:lnTo>
                  <a:pt x="21600" y="21600"/>
                </a:lnTo>
                <a:lnTo>
                  <a:pt x="7859" y="21600"/>
                </a:lnTo>
                <a:lnTo>
                  <a:pt x="7859" y="19987"/>
                </a:lnTo>
                <a:lnTo>
                  <a:pt x="0" y="19987"/>
                </a:lnTo>
                <a:lnTo>
                  <a:pt x="0" y="1575"/>
                </a:lnTo>
                <a:lnTo>
                  <a:pt x="7238" y="1575"/>
                </a:lnTo>
                <a:cubicBezTo>
                  <a:pt x="7790" y="544"/>
                  <a:pt x="8640" y="0"/>
                  <a:pt x="9812" y="0"/>
                </a:cubicBezTo>
                <a:close/>
                <a:moveTo>
                  <a:pt x="1976" y="3206"/>
                </a:moveTo>
                <a:lnTo>
                  <a:pt x="1976" y="18394"/>
                </a:lnTo>
                <a:lnTo>
                  <a:pt x="7859" y="18394"/>
                </a:lnTo>
                <a:lnTo>
                  <a:pt x="7859" y="8794"/>
                </a:lnTo>
                <a:lnTo>
                  <a:pt x="17671" y="8794"/>
                </a:lnTo>
                <a:lnTo>
                  <a:pt x="17671" y="3187"/>
                </a:lnTo>
                <a:lnTo>
                  <a:pt x="15717" y="3187"/>
                </a:lnTo>
                <a:lnTo>
                  <a:pt x="15717" y="6394"/>
                </a:lnTo>
                <a:lnTo>
                  <a:pt x="3929" y="6394"/>
                </a:lnTo>
                <a:lnTo>
                  <a:pt x="3929" y="3187"/>
                </a:lnTo>
                <a:lnTo>
                  <a:pt x="1976" y="3187"/>
                </a:lnTo>
                <a:close/>
                <a:moveTo>
                  <a:pt x="10524" y="1819"/>
                </a:moveTo>
                <a:cubicBezTo>
                  <a:pt x="10340" y="1669"/>
                  <a:pt x="10111" y="1594"/>
                  <a:pt x="9812" y="1594"/>
                </a:cubicBezTo>
                <a:cubicBezTo>
                  <a:pt x="9536" y="1594"/>
                  <a:pt x="9283" y="1669"/>
                  <a:pt x="9100" y="1819"/>
                </a:cubicBezTo>
                <a:cubicBezTo>
                  <a:pt x="8916" y="1969"/>
                  <a:pt x="8824" y="2156"/>
                  <a:pt x="8824" y="2400"/>
                </a:cubicBezTo>
                <a:lnTo>
                  <a:pt x="8824" y="3206"/>
                </a:lnTo>
                <a:lnTo>
                  <a:pt x="5883" y="3206"/>
                </a:lnTo>
                <a:lnTo>
                  <a:pt x="5883" y="4800"/>
                </a:lnTo>
                <a:lnTo>
                  <a:pt x="13718" y="4800"/>
                </a:lnTo>
                <a:lnTo>
                  <a:pt x="13718" y="3206"/>
                </a:lnTo>
                <a:lnTo>
                  <a:pt x="10777" y="3206"/>
                </a:lnTo>
                <a:lnTo>
                  <a:pt x="10777" y="2400"/>
                </a:lnTo>
                <a:cubicBezTo>
                  <a:pt x="10800" y="2175"/>
                  <a:pt x="10708" y="1969"/>
                  <a:pt x="10524" y="1819"/>
                </a:cubicBezTo>
                <a:close/>
                <a:moveTo>
                  <a:pt x="9812" y="10406"/>
                </a:moveTo>
                <a:lnTo>
                  <a:pt x="9812" y="20006"/>
                </a:lnTo>
                <a:lnTo>
                  <a:pt x="19624" y="20006"/>
                </a:lnTo>
                <a:lnTo>
                  <a:pt x="19624" y="10406"/>
                </a:lnTo>
                <a:lnTo>
                  <a:pt x="9812" y="10406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pic>
        <p:nvPicPr>
          <p:cNvPr id="750" name="그림 26" descr="그림 2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751" name="TextBox 27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28</a:t>
            </a:r>
          </a:p>
        </p:txBody>
      </p:sp>
      <p:grpSp>
        <p:nvGrpSpPr>
          <p:cNvPr id="754" name="그림 28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752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753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755" name="TextBox 19"/>
          <p:cNvSpPr txBox="1"/>
          <p:nvPr/>
        </p:nvSpPr>
        <p:spPr>
          <a:xfrm>
            <a:off x="3188270" y="2668384"/>
            <a:ext cx="6107484" cy="662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71450" indent="-171450">
              <a:buSzPct val="100000"/>
              <a:buFont typeface="Calibri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사용자 만족도 향상</a:t>
            </a:r>
            <a:endParaRPr sz="1000"/>
          </a:p>
          <a:p>
            <a:pPr marL="171450" indent="-171450">
              <a:buSzPct val="100000"/>
              <a:buFont typeface="Calibri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게임 구매 전환율 향상</a:t>
            </a:r>
            <a:endParaRPr sz="1000"/>
          </a:p>
          <a:p>
            <a:pPr marL="171450" indent="-171450">
              <a:buSzPct val="100000"/>
              <a:buFont typeface="Calibri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사용자 체류시간 증가</a:t>
            </a:r>
          </a:p>
        </p:txBody>
      </p:sp>
      <p:sp>
        <p:nvSpPr>
          <p:cNvPr id="756" name="TextBox 19"/>
          <p:cNvSpPr txBox="1"/>
          <p:nvPr/>
        </p:nvSpPr>
        <p:spPr>
          <a:xfrm>
            <a:off x="3215007" y="3917662"/>
            <a:ext cx="2865637" cy="840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  <a:p>
            <a:pPr marL="171450" indent="-171450">
              <a:buSzPct val="100000"/>
              <a:buFont typeface="Calibri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게임 탐색 시간 감소</a:t>
            </a:r>
            <a:endParaRPr sz="1000"/>
          </a:p>
          <a:p>
            <a:pPr marL="171450" indent="-171450">
              <a:buSzPct val="100000"/>
              <a:buFont typeface="Calibri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개인의 취향에 맞는 게임 발견 가능</a:t>
            </a:r>
            <a:endParaRPr sz="1000"/>
          </a:p>
          <a:p>
            <a:pPr marL="171450" indent="-171450">
              <a:buSzPct val="100000"/>
              <a:buFont typeface="Calibri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구매 실패 가능성 감소</a:t>
            </a:r>
          </a:p>
        </p:txBody>
      </p:sp>
      <p:sp>
        <p:nvSpPr>
          <p:cNvPr id="757" name="TextBox 19"/>
          <p:cNvSpPr txBox="1"/>
          <p:nvPr/>
        </p:nvSpPr>
        <p:spPr>
          <a:xfrm>
            <a:off x="3188267" y="5366129"/>
            <a:ext cx="4262641" cy="840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  <a:p>
            <a:pPr marL="171450" indent="-171450">
              <a:buSzPct val="100000"/>
              <a:buFont typeface="Calibri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잠재 고객 발견 가능성 증가</a:t>
            </a:r>
          </a:p>
          <a:p>
            <a:pPr marL="171450" indent="-171450">
              <a:buSzPct val="100000"/>
              <a:buFont typeface="Calibri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동일한 유저층을 공유하는 게임 분석 후, 업데이트 및 기획에 참고</a:t>
            </a:r>
            <a:endParaRPr sz="1000"/>
          </a:p>
          <a:p>
            <a:pPr marL="171450" indent="-171450">
              <a:buSzPct val="100000"/>
              <a:buFont typeface="Calibri"/>
              <a:buChar char="-"/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마케팅 효율 상승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0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사용자 후기</a:t>
            </a:r>
          </a:p>
        </p:txBody>
      </p:sp>
      <p:sp>
        <p:nvSpPr>
          <p:cNvPr id="761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04 ｜ 결론 </a:t>
            </a:r>
          </a:p>
        </p:txBody>
      </p:sp>
      <p:sp>
        <p:nvSpPr>
          <p:cNvPr id="762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765" name="그림 10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763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764" name="image3.png" descr="image3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pic>
        <p:nvPicPr>
          <p:cNvPr id="766" name="그림 1" descr="그림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91531" y="2760578"/>
            <a:ext cx="3577046" cy="370974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7" name="그림 2" descr="그림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693242" y="2763920"/>
            <a:ext cx="3405957" cy="3890213"/>
          </a:xfrm>
          <a:prstGeom prst="rect">
            <a:avLst/>
          </a:prstGeom>
          <a:ln w="12700">
            <a:miter lim="400000"/>
          </a:ln>
        </p:spPr>
      </p:pic>
      <p:pic>
        <p:nvPicPr>
          <p:cNvPr id="768" name="그림 3" descr="그림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31480" y="1296734"/>
            <a:ext cx="3540727" cy="358274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9" name="그림 4" descr="그림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47349" y="1293391"/>
            <a:ext cx="3167661" cy="33822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자유형: 도형 3"/>
          <p:cNvSpPr/>
          <p:nvPr/>
        </p:nvSpPr>
        <p:spPr>
          <a:xfrm>
            <a:off x="442912" y="-2"/>
            <a:ext cx="1619569" cy="504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TextBox 5"/>
          <p:cNvSpPr txBox="1"/>
          <p:nvPr/>
        </p:nvSpPr>
        <p:spPr>
          <a:xfrm>
            <a:off x="523355" y="615795"/>
            <a:ext cx="6179048" cy="50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프로젝트 최종 결론</a:t>
            </a:r>
          </a:p>
        </p:txBody>
      </p:sp>
      <p:sp>
        <p:nvSpPr>
          <p:cNvPr id="773" name="TextBox 6"/>
          <p:cNvSpPr txBox="1"/>
          <p:nvPr/>
        </p:nvSpPr>
        <p:spPr>
          <a:xfrm>
            <a:off x="546427" y="179985"/>
            <a:ext cx="2923459" cy="30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04 ｜ 결론 </a:t>
            </a:r>
          </a:p>
        </p:txBody>
      </p:sp>
      <p:sp>
        <p:nvSpPr>
          <p:cNvPr id="774" name="TextBox 7"/>
          <p:cNvSpPr txBox="1"/>
          <p:nvPr/>
        </p:nvSpPr>
        <p:spPr>
          <a:xfrm>
            <a:off x="1778301" y="1407981"/>
            <a:ext cx="8889394" cy="44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200">
                <a:solidFill>
                  <a:srgbClr val="126BF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STEAM 유저의 보유 게임 데이터를 분석해 개인화된 추천시스템 구현</a:t>
            </a:r>
          </a:p>
        </p:txBody>
      </p:sp>
      <p:sp>
        <p:nvSpPr>
          <p:cNvPr id="775" name="직선 연결선 8"/>
          <p:cNvSpPr/>
          <p:nvPr/>
        </p:nvSpPr>
        <p:spPr>
          <a:xfrm>
            <a:off x="442910" y="1128241"/>
            <a:ext cx="11306180" cy="2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" name="이등변 삼각형 10"/>
          <p:cNvSpPr/>
          <p:nvPr/>
        </p:nvSpPr>
        <p:spPr>
          <a:xfrm rot="10800000">
            <a:off x="5955912" y="5448010"/>
            <a:ext cx="253438" cy="164503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779" name="사각형: 둥근 모서리 1"/>
          <p:cNvGrpSpPr/>
          <p:nvPr/>
        </p:nvGrpSpPr>
        <p:grpSpPr>
          <a:xfrm>
            <a:off x="2156833" y="1956428"/>
            <a:ext cx="7878335" cy="3364278"/>
            <a:chOff x="0" y="0"/>
            <a:chExt cx="7878333" cy="3364277"/>
          </a:xfrm>
        </p:grpSpPr>
        <p:sp>
          <p:nvSpPr>
            <p:cNvPr id="777" name="모서리가 둥근 직사각형"/>
            <p:cNvSpPr/>
            <p:nvPr/>
          </p:nvSpPr>
          <p:spPr>
            <a:xfrm>
              <a:off x="-1" y="-1"/>
              <a:ext cx="7878335" cy="3364278"/>
            </a:xfrm>
            <a:prstGeom prst="roundRect">
              <a:avLst>
                <a:gd name="adj" fmla="val 50000"/>
              </a:avLst>
            </a:prstGeom>
            <a:solidFill>
              <a:srgbClr val="E7E6E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D0CECE">
                  <a:alpha val="64999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>
                  <a:latin typeface="Malgun Gothic"/>
                  <a:ea typeface="Malgun Gothic"/>
                  <a:cs typeface="Malgun Gothic"/>
                  <a:sym typeface="Malgun Gothic"/>
                </a:defRPr>
              </a:pPr>
            </a:p>
          </p:txBody>
        </p:sp>
        <p:sp>
          <p:nvSpPr>
            <p:cNvPr id="778" name="STEAM 유저 보유 게임 및 리뷰 데이터 수집 정제…"/>
            <p:cNvSpPr txBox="1"/>
            <p:nvPr/>
          </p:nvSpPr>
          <p:spPr>
            <a:xfrm>
              <a:off x="492680" y="191398"/>
              <a:ext cx="6892971" cy="2981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STEAM 유저 보유 게임 및 리뷰 데이터 수집 정제</a:t>
              </a:r>
              <a:endParaRPr>
                <a:solidFill>
                  <a:srgbClr val="FFFFFF"/>
                </a:solidFill>
                <a:latin typeface="+mj-lt"/>
                <a:ea typeface="+mj-ea"/>
                <a:cs typeface="+mj-cs"/>
                <a:sym typeface="Pretendard SemiBold"/>
              </a:endParaRPr>
            </a:p>
            <a:p>
              <a:pPr algn="ctr">
                <a:defRPr b="1">
                  <a:latin typeface="Malgun Gothic"/>
                  <a:ea typeface="Malgun Gothic"/>
                  <a:cs typeface="Malgun Gothic"/>
                  <a:sym typeface="Malgun Gothic"/>
                </a:defRPr>
              </a:pPr>
            </a:p>
            <a:p>
              <a:pPr algn="ctr">
                <a:defRPr b="1"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장르 태그 선별 후 원핫 인코딩, 유저 선호도 벡터 생성</a:t>
              </a:r>
              <a:endParaRPr>
                <a:solidFill>
                  <a:srgbClr val="FFFFFF"/>
                </a:solidFill>
                <a:latin typeface="+mj-lt"/>
                <a:ea typeface="+mj-ea"/>
                <a:cs typeface="+mj-cs"/>
                <a:sym typeface="Pretendard SemiBold"/>
              </a:endParaRPr>
            </a:p>
            <a:p>
              <a:pPr algn="ctr">
                <a:defRPr b="1">
                  <a:latin typeface="Malgun Gothic"/>
                  <a:ea typeface="Malgun Gothic"/>
                  <a:cs typeface="Malgun Gothic"/>
                  <a:sym typeface="Malgun Gothic"/>
                </a:defRPr>
              </a:pPr>
            </a:p>
            <a:p>
              <a:pPr algn="ctr">
                <a:defRPr b="1"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5종 모델 구현 및 NDCG@10 비교 → Item-CF가 최고점(0.2150)</a:t>
              </a:r>
            </a:p>
            <a:p>
              <a:pPr algn="ctr">
                <a:defRPr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</a:p>
            <a:p>
              <a:pPr algn="ctr">
                <a:defRPr b="1"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NDCG 1위 Item-CF 대신</a:t>
              </a:r>
            </a:p>
            <a:p>
              <a:pPr algn="ctr">
                <a:defRPr b="1"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개인화가 가장 강한 Content 기반 모델 최종 채택</a:t>
              </a:r>
              <a:endParaRPr>
                <a:solidFill>
                  <a:srgbClr val="FFFFFF"/>
                </a:solidFill>
                <a:latin typeface="+mj-lt"/>
                <a:ea typeface="+mj-ea"/>
                <a:cs typeface="+mj-cs"/>
                <a:sym typeface="Pretendard SemiBold"/>
              </a:endParaRPr>
            </a:p>
            <a:p>
              <a:pPr algn="ctr">
                <a:defRPr b="1">
                  <a:latin typeface="Malgun Gothic"/>
                  <a:ea typeface="Malgun Gothic"/>
                  <a:cs typeface="Malgun Gothic"/>
                  <a:sym typeface="Malgun Gothic"/>
                </a:defRPr>
              </a:pPr>
            </a:p>
            <a:p>
              <a:pPr algn="ctr">
                <a:defRPr b="1"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Steam API 연동 웹 서비스 구현</a:t>
              </a:r>
            </a:p>
          </p:txBody>
        </p:sp>
      </p:grpSp>
      <p:sp>
        <p:nvSpPr>
          <p:cNvPr id="780" name="TextBox 4"/>
          <p:cNvSpPr txBox="1"/>
          <p:nvPr/>
        </p:nvSpPr>
        <p:spPr>
          <a:xfrm>
            <a:off x="1658716" y="5958787"/>
            <a:ext cx="8881252" cy="4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22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인기 위주였던 추천을 </a:t>
            </a:r>
            <a:r>
              <a:rPr>
                <a:solidFill>
                  <a:srgbClr val="126BF6"/>
                </a:solidFill>
              </a:rPr>
              <a:t>개인 취향 기반 추천</a:t>
            </a:r>
            <a:r>
              <a:t>으로 전환</a:t>
            </a:r>
          </a:p>
        </p:txBody>
      </p:sp>
      <p:sp>
        <p:nvSpPr>
          <p:cNvPr id="781" name="이등변 삼각형 9"/>
          <p:cNvSpPr/>
          <p:nvPr/>
        </p:nvSpPr>
        <p:spPr>
          <a:xfrm rot="10800000">
            <a:off x="5955912" y="5676529"/>
            <a:ext cx="253438" cy="164503"/>
          </a:xfrm>
          <a:prstGeom prst="triangle">
            <a:avLst/>
          </a:prstGeom>
          <a:solidFill>
            <a:srgbClr val="126BF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82" name="그림 29" descr="그림 2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62" cy="530860"/>
          </a:xfrm>
          <a:prstGeom prst="rect">
            <a:avLst/>
          </a:prstGeom>
          <a:ln w="12700">
            <a:miter lim="400000"/>
          </a:ln>
        </p:spPr>
      </p:pic>
      <p:sp>
        <p:nvSpPr>
          <p:cNvPr id="783" name="TextBox 30"/>
          <p:cNvSpPr txBox="1"/>
          <p:nvPr/>
        </p:nvSpPr>
        <p:spPr>
          <a:xfrm>
            <a:off x="11477352" y="6222753"/>
            <a:ext cx="426625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600"/>
            </a:lvl1pPr>
          </a:lstStyle>
          <a:p>
            <a:pPr/>
            <a:r>
              <a:t>30</a:t>
            </a:r>
          </a:p>
        </p:txBody>
      </p:sp>
      <p:grpSp>
        <p:nvGrpSpPr>
          <p:cNvPr id="786" name="그림 31"/>
          <p:cNvGrpSpPr/>
          <p:nvPr/>
        </p:nvGrpSpPr>
        <p:grpSpPr>
          <a:xfrm>
            <a:off x="10152856" y="352807"/>
            <a:ext cx="1566226" cy="413100"/>
            <a:chOff x="-1" y="0"/>
            <a:chExt cx="1566225" cy="413099"/>
          </a:xfrm>
        </p:grpSpPr>
        <p:sp>
          <p:nvSpPr>
            <p:cNvPr id="784" name="Shape"/>
            <p:cNvSpPr/>
            <p:nvPr/>
          </p:nvSpPr>
          <p:spPr>
            <a:xfrm>
              <a:off x="-2" y="-1"/>
              <a:ext cx="1566227" cy="41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/>
            </a:p>
          </p:txBody>
        </p:sp>
        <p:pic>
          <p:nvPicPr>
            <p:cNvPr id="785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-1"/>
              <a:ext cx="1566070" cy="4131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5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5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자유형: 도형 3"/>
          <p:cNvSpPr/>
          <p:nvPr/>
        </p:nvSpPr>
        <p:spPr>
          <a:xfrm>
            <a:off x="442912" y="-1"/>
            <a:ext cx="1619569" cy="504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13828"/>
                </a:lnTo>
                <a:cubicBezTo>
                  <a:pt x="21600" y="18120"/>
                  <a:pt x="20517" y="21600"/>
                  <a:pt x="19181" y="21600"/>
                </a:cubicBezTo>
                <a:lnTo>
                  <a:pt x="2419" y="21600"/>
                </a:lnTo>
                <a:cubicBezTo>
                  <a:pt x="1083" y="21600"/>
                  <a:pt x="0" y="18120"/>
                  <a:pt x="0" y="13828"/>
                </a:cubicBezTo>
                <a:lnTo>
                  <a:pt x="0" y="0"/>
                </a:lnTo>
                <a:close/>
              </a:path>
            </a:pathLst>
          </a:custGeom>
          <a:solidFill>
            <a:srgbClr val="126BF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TextBox 5"/>
          <p:cNvSpPr txBox="1"/>
          <p:nvPr/>
        </p:nvSpPr>
        <p:spPr>
          <a:xfrm>
            <a:off x="523358" y="615795"/>
            <a:ext cx="6179042" cy="508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장점 및 개선할 점</a:t>
            </a:r>
          </a:p>
        </p:txBody>
      </p:sp>
      <p:sp>
        <p:nvSpPr>
          <p:cNvPr id="790" name="TextBox 6"/>
          <p:cNvSpPr txBox="1"/>
          <p:nvPr/>
        </p:nvSpPr>
        <p:spPr>
          <a:xfrm>
            <a:off x="546429" y="179986"/>
            <a:ext cx="2923456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04 </a:t>
            </a:r>
            <a:r>
              <a:t>｜</a:t>
            </a:r>
            <a:r>
              <a:t> </a:t>
            </a:r>
            <a:r>
              <a:t>결론</a:t>
            </a:r>
          </a:p>
        </p:txBody>
      </p:sp>
      <p:sp>
        <p:nvSpPr>
          <p:cNvPr id="791" name="직선 연결선 8"/>
          <p:cNvSpPr/>
          <p:nvPr/>
        </p:nvSpPr>
        <p:spPr>
          <a:xfrm>
            <a:off x="442912" y="1128240"/>
            <a:ext cx="11306176" cy="1"/>
          </a:xfrm>
          <a:prstGeom prst="line">
            <a:avLst/>
          </a:prstGeom>
          <a:ln w="6350">
            <a:solidFill>
              <a:srgbClr val="A6A6A6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792" name="직사각형 4"/>
          <p:cNvSpPr/>
          <p:nvPr/>
        </p:nvSpPr>
        <p:spPr>
          <a:xfrm>
            <a:off x="647172" y="1896391"/>
            <a:ext cx="5057305" cy="1264732"/>
          </a:xfrm>
          <a:prstGeom prst="rect">
            <a:avLst/>
          </a:prstGeom>
          <a:solidFill>
            <a:srgbClr val="F6F7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793" name="TextBox 9"/>
          <p:cNvSpPr txBox="1"/>
          <p:nvPr/>
        </p:nvSpPr>
        <p:spPr>
          <a:xfrm>
            <a:off x="902255" y="2122255"/>
            <a:ext cx="1995450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solidFill>
                  <a:srgbClr val="126BF6"/>
                </a:solidFill>
              </a:defRPr>
            </a:pPr>
            <a:r>
              <a:t>01 </a:t>
            </a:r>
            <a:r>
              <a:t>다각도 평가 지표 설계</a:t>
            </a:r>
          </a:p>
        </p:txBody>
      </p:sp>
      <p:sp>
        <p:nvSpPr>
          <p:cNvPr id="794" name="TextBox 10"/>
          <p:cNvSpPr txBox="1"/>
          <p:nvPr/>
        </p:nvSpPr>
        <p:spPr>
          <a:xfrm>
            <a:off x="858465" y="2510263"/>
            <a:ext cx="456805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pPr/>
            <a:r>
              <a:t>정확도(NDCG)만으로 모델을 선택하지 않고 개인화 지표를 추가하여 검증</a:t>
            </a:r>
          </a:p>
        </p:txBody>
      </p:sp>
      <p:sp>
        <p:nvSpPr>
          <p:cNvPr id="795" name="직사각형 12"/>
          <p:cNvSpPr/>
          <p:nvPr/>
        </p:nvSpPr>
        <p:spPr>
          <a:xfrm>
            <a:off x="647172" y="3237629"/>
            <a:ext cx="5057305" cy="1594804"/>
          </a:xfrm>
          <a:prstGeom prst="rect">
            <a:avLst/>
          </a:prstGeom>
          <a:solidFill>
            <a:srgbClr val="F6F7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796" name="TextBox 13"/>
          <p:cNvSpPr txBox="1"/>
          <p:nvPr/>
        </p:nvSpPr>
        <p:spPr>
          <a:xfrm>
            <a:off x="800655" y="3450793"/>
            <a:ext cx="3660770" cy="535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solidFill>
                  <a:srgbClr val="126BF6"/>
                </a:solidFill>
              </a:defRPr>
            </a:pPr>
            <a:r>
              <a:t>02 </a:t>
            </a:r>
            <a:r>
              <a:t>Steam API 실시간 연동 웹 데모까지 구현·검증</a:t>
            </a:r>
          </a:p>
        </p:txBody>
      </p:sp>
      <p:sp>
        <p:nvSpPr>
          <p:cNvPr id="797" name="TextBox 14"/>
          <p:cNvSpPr txBox="1"/>
          <p:nvPr/>
        </p:nvSpPr>
        <p:spPr>
          <a:xfrm>
            <a:off x="785169" y="3906736"/>
            <a:ext cx="471464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기존 등록 유저뿐 아니라 steamid 입력만으로 신규 유저에게도 즉시 추천 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 실제 사용자 테스트를 거쳐 "선호 장르가 잘 반영된다"는 정성적 피드백 확보</a:t>
            </a:r>
          </a:p>
        </p:txBody>
      </p:sp>
      <p:sp>
        <p:nvSpPr>
          <p:cNvPr id="798" name="직사각형 16"/>
          <p:cNvSpPr/>
          <p:nvPr/>
        </p:nvSpPr>
        <p:spPr>
          <a:xfrm>
            <a:off x="668083" y="4881248"/>
            <a:ext cx="5036394" cy="1264732"/>
          </a:xfrm>
          <a:prstGeom prst="rect">
            <a:avLst/>
          </a:prstGeom>
          <a:solidFill>
            <a:srgbClr val="F6F7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799" name="TextBox 17"/>
          <p:cNvSpPr txBox="1"/>
          <p:nvPr/>
        </p:nvSpPr>
        <p:spPr>
          <a:xfrm>
            <a:off x="923166" y="5107112"/>
            <a:ext cx="3457570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solidFill>
                  <a:srgbClr val="126BF6"/>
                </a:solidFill>
              </a:defRPr>
            </a:pPr>
            <a:r>
              <a:t>03 </a:t>
            </a:r>
            <a:r>
              <a:t>5종 모델을 동일 인터페이스로 비교</a:t>
            </a:r>
          </a:p>
        </p:txBody>
      </p:sp>
      <p:sp>
        <p:nvSpPr>
          <p:cNvPr id="800" name="TextBox 18"/>
          <p:cNvSpPr txBox="1"/>
          <p:nvPr/>
        </p:nvSpPr>
        <p:spPr>
          <a:xfrm>
            <a:off x="923166" y="5399164"/>
            <a:ext cx="4532952" cy="54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인기도 baseline부터 Content, User/Item-CF, SVD까지 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성격이 다른 모델을 공정하게 비교해 선택 정당성을 높임</a:t>
            </a:r>
          </a:p>
        </p:txBody>
      </p:sp>
      <p:sp>
        <p:nvSpPr>
          <p:cNvPr id="801" name="TextBox 19"/>
          <p:cNvSpPr txBox="1"/>
          <p:nvPr/>
        </p:nvSpPr>
        <p:spPr>
          <a:xfrm>
            <a:off x="620841" y="1488806"/>
            <a:ext cx="1420617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51F95"/>
                </a:solidFill>
              </a:defRPr>
            </a:lvl1pPr>
          </a:lstStyle>
          <a:p>
            <a:pPr/>
            <a:r>
              <a:t>장점</a:t>
            </a:r>
          </a:p>
        </p:txBody>
      </p:sp>
      <p:sp>
        <p:nvSpPr>
          <p:cNvPr id="802" name="TextBox 20"/>
          <p:cNvSpPr txBox="1"/>
          <p:nvPr/>
        </p:nvSpPr>
        <p:spPr>
          <a:xfrm>
            <a:off x="5909396" y="1488806"/>
            <a:ext cx="1420617" cy="38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51F95"/>
                </a:solidFill>
              </a:defRPr>
            </a:lvl1pPr>
          </a:lstStyle>
          <a:p>
            <a:pPr/>
            <a:r>
              <a:t>개선할 점</a:t>
            </a:r>
          </a:p>
        </p:txBody>
      </p:sp>
      <p:sp>
        <p:nvSpPr>
          <p:cNvPr id="803" name="직사각형 28"/>
          <p:cNvSpPr/>
          <p:nvPr/>
        </p:nvSpPr>
        <p:spPr>
          <a:xfrm>
            <a:off x="5904523" y="1896391"/>
            <a:ext cx="2866985" cy="1813075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804" name="TextBox 29"/>
          <p:cNvSpPr txBox="1"/>
          <p:nvPr/>
        </p:nvSpPr>
        <p:spPr>
          <a:xfrm>
            <a:off x="5978325" y="2117175"/>
            <a:ext cx="2767782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26BF6"/>
                </a:solidFill>
              </a:defRPr>
            </a:lvl1pPr>
          </a:lstStyle>
          <a:p>
            <a:pPr/>
            <a:r>
              <a:t>01 데이터 규모·희소성의 한계</a:t>
            </a:r>
          </a:p>
        </p:txBody>
      </p:sp>
      <p:sp>
        <p:nvSpPr>
          <p:cNvPr id="805" name="TextBox 30"/>
          <p:cNvSpPr txBox="1"/>
          <p:nvPr/>
        </p:nvSpPr>
        <p:spPr>
          <a:xfrm>
            <a:off x="5954124" y="2528608"/>
            <a:ext cx="2767782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pPr/>
            <a:r>
              <a:t>779명, 23,297건 상호작용, 99% 희소 행렬 -&gt; 유저·상호작용 데이터 확충이 필요</a:t>
            </a:r>
          </a:p>
        </p:txBody>
      </p:sp>
      <p:sp>
        <p:nvSpPr>
          <p:cNvPr id="806" name="직사각형 32"/>
          <p:cNvSpPr/>
          <p:nvPr/>
        </p:nvSpPr>
        <p:spPr>
          <a:xfrm>
            <a:off x="8932482" y="1870659"/>
            <a:ext cx="2866985" cy="1813075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807" name="TextBox 33"/>
          <p:cNvSpPr txBox="1"/>
          <p:nvPr/>
        </p:nvSpPr>
        <p:spPr>
          <a:xfrm>
            <a:off x="8946153" y="2091775"/>
            <a:ext cx="3034000" cy="319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26BF6"/>
                </a:solidFill>
              </a:defRPr>
            </a:lvl1pPr>
          </a:lstStyle>
          <a:p>
            <a:pPr/>
            <a:r>
              <a:t>02 Value Score 가중치의 경험적 설정</a:t>
            </a:r>
          </a:p>
        </p:txBody>
      </p:sp>
      <p:sp>
        <p:nvSpPr>
          <p:cNvPr id="808" name="TextBox 34"/>
          <p:cNvSpPr txBox="1"/>
          <p:nvPr/>
        </p:nvSpPr>
        <p:spPr>
          <a:xfrm>
            <a:off x="8970434" y="2490508"/>
            <a:ext cx="2866984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score = 0.6·유사도 + 0.2·평점 + 0.2·인기도 가중치가 임의로 설정됨 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-&gt; 추후 가중치 최적화 필요</a:t>
            </a:r>
          </a:p>
        </p:txBody>
      </p:sp>
      <p:sp>
        <p:nvSpPr>
          <p:cNvPr id="809" name="직사각형 36"/>
          <p:cNvSpPr/>
          <p:nvPr/>
        </p:nvSpPr>
        <p:spPr>
          <a:xfrm>
            <a:off x="5909396" y="4042873"/>
            <a:ext cx="2866984" cy="1813075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810" name="TextBox 37"/>
          <p:cNvSpPr txBox="1"/>
          <p:nvPr/>
        </p:nvSpPr>
        <p:spPr>
          <a:xfrm>
            <a:off x="6003725" y="4300238"/>
            <a:ext cx="2767783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26BF6"/>
                </a:solidFill>
              </a:defRPr>
            </a:lvl1pPr>
          </a:lstStyle>
          <a:p>
            <a:pPr/>
            <a:r>
              <a:t>03 롱테일 게임의 콘텐츠 정보 부족</a:t>
            </a:r>
          </a:p>
        </p:txBody>
      </p:sp>
      <p:sp>
        <p:nvSpPr>
          <p:cNvPr id="811" name="TextBox 38"/>
          <p:cNvSpPr txBox="1"/>
          <p:nvPr/>
        </p:nvSpPr>
        <p:spPr>
          <a:xfrm>
            <a:off x="5954124" y="4713636"/>
            <a:ext cx="2767782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리뷰·평점이 적은 신규/비인기 게임은 Content 모델의 취향벡터 매칭 정확도가 떨어질 수 있음 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→ 별도 보완 로직 필요</a:t>
            </a:r>
          </a:p>
        </p:txBody>
      </p:sp>
      <p:pic>
        <p:nvPicPr>
          <p:cNvPr id="812" name="그림 11" descr="그림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25238" y="6126602"/>
            <a:ext cx="530859" cy="530859"/>
          </a:xfrm>
          <a:prstGeom prst="rect">
            <a:avLst/>
          </a:prstGeom>
          <a:ln w="12700">
            <a:miter lim="400000"/>
          </a:ln>
        </p:spPr>
      </p:pic>
      <p:sp>
        <p:nvSpPr>
          <p:cNvPr id="813" name="TextBox 15"/>
          <p:cNvSpPr txBox="1"/>
          <p:nvPr/>
        </p:nvSpPr>
        <p:spPr>
          <a:xfrm>
            <a:off x="11477354" y="6222753"/>
            <a:ext cx="426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/>
            </a:lvl1pPr>
          </a:lstStyle>
          <a:p>
            <a:pPr/>
            <a:r>
              <a:t>31</a:t>
            </a:r>
          </a:p>
        </p:txBody>
      </p:sp>
      <p:grpSp>
        <p:nvGrpSpPr>
          <p:cNvPr id="816" name="그림 27"/>
          <p:cNvGrpSpPr/>
          <p:nvPr/>
        </p:nvGrpSpPr>
        <p:grpSpPr>
          <a:xfrm>
            <a:off x="10152860" y="352811"/>
            <a:ext cx="1566218" cy="413091"/>
            <a:chOff x="0" y="0"/>
            <a:chExt cx="1566216" cy="413090"/>
          </a:xfrm>
        </p:grpSpPr>
        <p:sp>
          <p:nvSpPr>
            <p:cNvPr id="814" name="도형"/>
            <p:cNvSpPr/>
            <p:nvPr/>
          </p:nvSpPr>
          <p:spPr>
            <a:xfrm>
              <a:off x="-1" y="-1"/>
              <a:ext cx="1566218" cy="413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219" y="0"/>
                    <a:pt x="490" y="0"/>
                  </a:cubicBezTo>
                  <a:lnTo>
                    <a:pt x="21110" y="0"/>
                  </a:lnTo>
                  <a:lnTo>
                    <a:pt x="21110" y="0"/>
                  </a:lnTo>
                  <a:cubicBezTo>
                    <a:pt x="21381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381" y="21600"/>
                    <a:pt x="21110" y="21600"/>
                  </a:cubicBezTo>
                  <a:lnTo>
                    <a:pt x="490" y="21600"/>
                  </a:lnTo>
                  <a:lnTo>
                    <a:pt x="490" y="21600"/>
                  </a:lnTo>
                  <a:cubicBezTo>
                    <a:pt x="219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pic>
          <p:nvPicPr>
            <p:cNvPr id="815" name="image3.png" descr="image3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9" b="0"/>
            <a:stretch>
              <a:fillRect/>
            </a:stretch>
          </p:blipFill>
          <p:spPr>
            <a:xfrm>
              <a:off x="0" y="0"/>
              <a:ext cx="1566069" cy="41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87" y="0"/>
                  </a:moveTo>
                  <a:cubicBezTo>
                    <a:pt x="217" y="0"/>
                    <a:pt x="0" y="822"/>
                    <a:pt x="0" y="1847"/>
                  </a:cubicBezTo>
                  <a:lnTo>
                    <a:pt x="0" y="19733"/>
                  </a:lnTo>
                  <a:cubicBezTo>
                    <a:pt x="0" y="20758"/>
                    <a:pt x="217" y="21600"/>
                    <a:pt x="487" y="21600"/>
                  </a:cubicBezTo>
                  <a:lnTo>
                    <a:pt x="21113" y="21600"/>
                  </a:lnTo>
                  <a:cubicBezTo>
                    <a:pt x="21383" y="21600"/>
                    <a:pt x="21600" y="20758"/>
                    <a:pt x="21600" y="19733"/>
                  </a:cubicBezTo>
                  <a:lnTo>
                    <a:pt x="21600" y="1847"/>
                  </a:lnTo>
                  <a:cubicBezTo>
                    <a:pt x="21600" y="822"/>
                    <a:pt x="21383" y="0"/>
                    <a:pt x="21113" y="0"/>
                  </a:cubicBezTo>
                  <a:lnTo>
                    <a:pt x="487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817" name="직사각형 36"/>
          <p:cNvSpPr/>
          <p:nvPr/>
        </p:nvSpPr>
        <p:spPr>
          <a:xfrm>
            <a:off x="9020035" y="4070438"/>
            <a:ext cx="2767782" cy="1813075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ts val="1800"/>
              </a:lnSpc>
              <a:defRPr sz="1300">
                <a:latin typeface="Pretendard Medium"/>
                <a:ea typeface="Pretendard Medium"/>
                <a:cs typeface="Pretendard Medium"/>
                <a:sym typeface="Pretendard Medium"/>
              </a:defRPr>
            </a:pPr>
          </a:p>
        </p:txBody>
      </p:sp>
      <p:sp>
        <p:nvSpPr>
          <p:cNvPr id="818" name="TextBox 37"/>
          <p:cNvSpPr txBox="1"/>
          <p:nvPr/>
        </p:nvSpPr>
        <p:spPr>
          <a:xfrm>
            <a:off x="9117362" y="4300238"/>
            <a:ext cx="2767782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126BF6"/>
                </a:solidFill>
              </a:defRPr>
            </a:lvl1pPr>
          </a:lstStyle>
          <a:p>
            <a:pPr/>
            <a:r>
              <a:t>04 오프라인 정적 평가에 한정</a:t>
            </a:r>
          </a:p>
        </p:txBody>
      </p:sp>
      <p:sp>
        <p:nvSpPr>
          <p:cNvPr id="819" name="TextBox 38"/>
          <p:cNvSpPr txBox="1"/>
          <p:nvPr/>
        </p:nvSpPr>
        <p:spPr>
          <a:xfrm>
            <a:off x="9117362" y="4702655"/>
            <a:ext cx="259262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실서비스 적용 시 클릭률·구매 전환 등 </a:t>
            </a:r>
          </a:p>
          <a:p>
            <a:pPr>
              <a:lnSpc>
                <a:spcPts val="1800"/>
              </a:lnSpc>
              <a:defRPr sz="1200"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t>온라인 지표로 검증 추가 가능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Pretendard SemiBold"/>
        <a:ea typeface="Pretendard SemiBold"/>
        <a:cs typeface="Pretendard SemiBold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retendard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retendard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Pretendard SemiBold"/>
        <a:ea typeface="Pretendard SemiBold"/>
        <a:cs typeface="Pretendard SemiBold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retendard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retendard Semi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